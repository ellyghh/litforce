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va" initials="E" lastIdx="1" clrIdx="0">
    <p:extLst>
      <p:ext uri="{19B8F6BF-5375-455C-9EA6-DF929625EA0E}">
        <p15:presenceInfo xmlns:p15="http://schemas.microsoft.com/office/powerpoint/2012/main" userId="Ev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990" y="3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11/22/2025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11/22/2025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8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344C82-7AE3-4F1D-8DE8-B8159FE258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8967" y="838423"/>
            <a:ext cx="11544690" cy="1515531"/>
          </a:xfrm>
        </p:spPr>
        <p:txBody>
          <a:bodyPr>
            <a:noAutofit/>
          </a:bodyPr>
          <a:lstStyle/>
          <a:p>
            <a:r>
              <a:rPr lang="ru-RU" sz="8800" b="1" dirty="0"/>
              <a:t>Система умного КПП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2896215-46E0-4602-963E-EF4FB1AFCF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00927" y="2386264"/>
            <a:ext cx="8512730" cy="1042736"/>
          </a:xfrm>
        </p:spPr>
        <p:txBody>
          <a:bodyPr>
            <a:noAutofit/>
          </a:bodyPr>
          <a:lstStyle/>
          <a:p>
            <a:r>
              <a:rPr lang="ru-RU" sz="2400" dirty="0"/>
              <a:t>Умный въезд без очередей: система распознавания номеров для ЖК, бизнес-центров и предприятий 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7C61420-DF82-4DD7-A0A8-481F37C2C6D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6209"/>
          <a:stretch/>
        </p:blipFill>
        <p:spPr>
          <a:xfrm>
            <a:off x="3400927" y="4418924"/>
            <a:ext cx="1886943" cy="1892967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92084F4-57B8-42FA-8441-5298ED8338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7164" y="4418924"/>
            <a:ext cx="1892967" cy="1892967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9BFDF2A9-5915-4F7E-977F-0B290B284E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2093" y="3615817"/>
            <a:ext cx="803107" cy="803107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D70C2E3D-08EC-49FC-B13A-31D077F125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40951" y="3615817"/>
            <a:ext cx="803107" cy="803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2246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91C307-61E7-47D0-9339-E96FDC64F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7200" dirty="0"/>
              <a:t>Целевая аудитория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F4C5DC6-594E-44B2-A24F-E2E0D2DEA8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2142067"/>
            <a:ext cx="3629525" cy="3649133"/>
          </a:xfrm>
        </p:spPr>
        <p:txBody>
          <a:bodyPr anchor="t">
            <a:noAutofit/>
          </a:bodyPr>
          <a:lstStyle/>
          <a:p>
            <a:pPr marL="0" indent="0">
              <a:buNone/>
            </a:pPr>
            <a:r>
              <a:rPr lang="ru-RU" sz="2200" b="1" dirty="0"/>
              <a:t>1. Управляющий недвижимостью</a:t>
            </a:r>
          </a:p>
          <a:p>
            <a:r>
              <a:rPr lang="ru-RU" sz="2200" dirty="0"/>
              <a:t>Проблема: очереди на въезде, жалобы жильцов</a:t>
            </a:r>
          </a:p>
          <a:p>
            <a:r>
              <a:rPr lang="ru-RU" sz="2200" dirty="0"/>
              <a:t>Решение: автоматический пропуск машин по номеру</a:t>
            </a:r>
          </a:p>
          <a:p>
            <a:r>
              <a:rPr lang="ru-RU" sz="2200" dirty="0"/>
              <a:t>Результат: снижение затрат, рост лояльности</a:t>
            </a:r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16EBBEF8-6E5B-425F-981F-AB01B8E7E0BD}"/>
              </a:ext>
            </a:extLst>
          </p:cNvPr>
          <p:cNvSpPr txBox="1">
            <a:spLocks/>
          </p:cNvSpPr>
          <p:nvPr/>
        </p:nvSpPr>
        <p:spPr>
          <a:xfrm>
            <a:off x="4315326" y="2065867"/>
            <a:ext cx="3629525" cy="372533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857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ru-RU" sz="2200" b="1" dirty="0"/>
              <a:t>2. Управляющий недвижимостью</a:t>
            </a:r>
          </a:p>
          <a:p>
            <a:r>
              <a:rPr lang="ru-RU" sz="2200" dirty="0"/>
              <a:t>Проблема: очереди на въезде, жалобы жильцов</a:t>
            </a:r>
          </a:p>
          <a:p>
            <a:r>
              <a:rPr lang="ru-RU" sz="2200" dirty="0"/>
              <a:t>Решение: автоматический пропуск машин по номеру</a:t>
            </a:r>
          </a:p>
          <a:p>
            <a:r>
              <a:rPr lang="ru-RU" sz="2200" dirty="0"/>
              <a:t>Результат: снижение затрат, рост лояльности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9445D1C8-565F-4F57-A002-5F0545139C3C}"/>
              </a:ext>
            </a:extLst>
          </p:cNvPr>
          <p:cNvSpPr txBox="1">
            <a:spLocks/>
          </p:cNvSpPr>
          <p:nvPr/>
        </p:nvSpPr>
        <p:spPr>
          <a:xfrm>
            <a:off x="7927807" y="2065867"/>
            <a:ext cx="3629525" cy="364913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857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ru-RU" sz="2200" b="1" dirty="0"/>
              <a:t>3. Владелец бизнеса</a:t>
            </a:r>
          </a:p>
          <a:p>
            <a:r>
              <a:rPr lang="ru-RU" sz="2200" dirty="0"/>
              <a:t>Проблема: чужие машины на территории</a:t>
            </a:r>
          </a:p>
          <a:p>
            <a:r>
              <a:rPr lang="ru-RU" sz="2200" dirty="0"/>
              <a:t>Решение: простой контроль доступа с телефона</a:t>
            </a:r>
          </a:p>
          <a:p>
            <a:r>
              <a:rPr lang="ru-RU" sz="2200" dirty="0"/>
              <a:t>Результат: безопасность без лишних затрат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A9664C-CF56-4546-B597-867E5EDC624B}"/>
              </a:ext>
            </a:extLst>
          </p:cNvPr>
          <p:cNvSpPr txBox="1"/>
          <p:nvPr/>
        </p:nvSpPr>
        <p:spPr>
          <a:xfrm>
            <a:off x="685801" y="5839326"/>
            <a:ext cx="94367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Для всех групп:</a:t>
            </a:r>
          </a:p>
          <a:p>
            <a:r>
              <a:rPr lang="ru-RU" dirty="0"/>
              <a:t>Работает 24/7 • Распознает за 5 секунд • Управление с любого устройства</a:t>
            </a:r>
          </a:p>
        </p:txBody>
      </p:sp>
    </p:spTree>
    <p:extLst>
      <p:ext uri="{BB962C8B-B14F-4D97-AF65-F5344CB8AC3E}">
        <p14:creationId xmlns:p14="http://schemas.microsoft.com/office/powerpoint/2010/main" val="18485809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38E342-CAEA-45E5-BC1B-5CAB3CAC8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0"/>
            <a:ext cx="5410199" cy="1456267"/>
          </a:xfrm>
        </p:spPr>
        <p:txBody>
          <a:bodyPr>
            <a:normAutofit/>
          </a:bodyPr>
          <a:lstStyle/>
          <a:p>
            <a:r>
              <a:rPr lang="ru-RU" sz="7200" dirty="0"/>
              <a:t>Проблемы</a:t>
            </a:r>
          </a:p>
        </p:txBody>
      </p:sp>
      <p:grpSp>
        <p:nvGrpSpPr>
          <p:cNvPr id="4" name="Group 9">
            <a:extLst>
              <a:ext uri="{FF2B5EF4-FFF2-40B4-BE49-F238E27FC236}">
                <a16:creationId xmlns:a16="http://schemas.microsoft.com/office/drawing/2014/main" id="{6A2D2E1F-9501-4B7A-AEB6-0824B7F9CC82}"/>
              </a:ext>
            </a:extLst>
          </p:cNvPr>
          <p:cNvGrpSpPr/>
          <p:nvPr/>
        </p:nvGrpSpPr>
        <p:grpSpPr>
          <a:xfrm>
            <a:off x="685801" y="2065867"/>
            <a:ext cx="7046494" cy="1584558"/>
            <a:chOff x="0" y="-66675"/>
            <a:chExt cx="11388370" cy="2943632"/>
          </a:xfrm>
        </p:grpSpPr>
        <p:sp>
          <p:nvSpPr>
            <p:cNvPr id="5" name="TextBox 10">
              <a:extLst>
                <a:ext uri="{FF2B5EF4-FFF2-40B4-BE49-F238E27FC236}">
                  <a16:creationId xmlns:a16="http://schemas.microsoft.com/office/drawing/2014/main" id="{BB9FA66D-45E3-4C7F-8D93-1BDE93467B35}"/>
                </a:ext>
              </a:extLst>
            </p:cNvPr>
            <p:cNvSpPr txBox="1"/>
            <p:nvPr/>
          </p:nvSpPr>
          <p:spPr>
            <a:xfrm>
              <a:off x="0" y="-66675"/>
              <a:ext cx="11388370" cy="9107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FFFFFF"/>
                  </a:solidFill>
                  <a:latin typeface="+mj-lt"/>
                  <a:ea typeface="Fira Sans Bold"/>
                  <a:cs typeface="Fira Sans Bold"/>
                  <a:sym typeface="Fira Sans Bold"/>
                </a:rPr>
                <a:t>1. ДЛИТЕЛЬНЫЕ ЗАДЕРЖКИ НА ВЪЕЗДЕ</a:t>
              </a:r>
            </a:p>
          </p:txBody>
        </p:sp>
        <p:sp>
          <p:nvSpPr>
            <p:cNvPr id="6" name="TextBox 11">
              <a:extLst>
                <a:ext uri="{FF2B5EF4-FFF2-40B4-BE49-F238E27FC236}">
                  <a16:creationId xmlns:a16="http://schemas.microsoft.com/office/drawing/2014/main" id="{6F444971-8380-4C87-9D5E-BAF504F2FFAB}"/>
                </a:ext>
              </a:extLst>
            </p:cNvPr>
            <p:cNvSpPr txBox="1"/>
            <p:nvPr/>
          </p:nvSpPr>
          <p:spPr>
            <a:xfrm>
              <a:off x="0" y="1139250"/>
              <a:ext cx="11388370" cy="173770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88228" lvl="1" indent="-194114" algn="l">
                <a:lnSpc>
                  <a:spcPts val="2517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400" dirty="0" err="1">
                  <a:solidFill>
                    <a:srgbClr val="FFFFFF"/>
                  </a:solidFill>
                  <a:ea typeface="Fira Sans Light"/>
                  <a:cs typeface="Fira Sans Light"/>
                  <a:sym typeface="Fira Sans Light"/>
                </a:rPr>
                <a:t>Ручная</a:t>
              </a:r>
              <a:r>
                <a:rPr lang="en-US" sz="1400" dirty="0">
                  <a:solidFill>
                    <a:srgbClr val="FFFFFF"/>
                  </a:solidFill>
                  <a:ea typeface="Fira Sans Light"/>
                  <a:cs typeface="Fira Sans Light"/>
                  <a:sym typeface="Fira Sans Light"/>
                </a:rPr>
                <a:t> </a:t>
              </a:r>
              <a:r>
                <a:rPr lang="en-US" sz="1400" dirty="0" err="1">
                  <a:solidFill>
                    <a:srgbClr val="FFFFFF"/>
                  </a:solidFill>
                  <a:ea typeface="Fira Sans Light"/>
                  <a:cs typeface="Fira Sans Light"/>
                  <a:sym typeface="Fira Sans Light"/>
                </a:rPr>
                <a:t>проверка</a:t>
              </a:r>
              <a:r>
                <a:rPr lang="en-US" sz="1400" dirty="0">
                  <a:solidFill>
                    <a:srgbClr val="FFFFFF"/>
                  </a:solidFill>
                  <a:ea typeface="Fira Sans Light"/>
                  <a:cs typeface="Fira Sans Light"/>
                  <a:sym typeface="Fira Sans Light"/>
                </a:rPr>
                <a:t> </a:t>
              </a:r>
              <a:r>
                <a:rPr lang="en-US" sz="1400" dirty="0" err="1">
                  <a:solidFill>
                    <a:srgbClr val="FFFFFF"/>
                  </a:solidFill>
                  <a:ea typeface="Fira Sans Light"/>
                  <a:cs typeface="Fira Sans Light"/>
                  <a:sym typeface="Fira Sans Light"/>
                </a:rPr>
                <a:t>занимает</a:t>
              </a:r>
              <a:r>
                <a:rPr lang="en-US" sz="1400" dirty="0">
                  <a:solidFill>
                    <a:srgbClr val="FFFFFF"/>
                  </a:solidFill>
                  <a:ea typeface="Fira Sans Light"/>
                  <a:cs typeface="Fira Sans Light"/>
                  <a:sym typeface="Fira Sans Light"/>
                </a:rPr>
                <a:t> </a:t>
              </a:r>
              <a:r>
                <a:rPr lang="en-US" sz="1400" dirty="0" err="1">
                  <a:solidFill>
                    <a:srgbClr val="FFFFFF"/>
                  </a:solidFill>
                  <a:ea typeface="Fira Sans Light"/>
                  <a:cs typeface="Fira Sans Light"/>
                  <a:sym typeface="Fira Sans Light"/>
                </a:rPr>
                <a:t>до</a:t>
              </a:r>
              <a:r>
                <a:rPr lang="en-US" sz="1400" dirty="0">
                  <a:solidFill>
                    <a:srgbClr val="FFFFFF"/>
                  </a:solidFill>
                  <a:ea typeface="Fira Sans Light"/>
                  <a:cs typeface="Fira Sans Light"/>
                  <a:sym typeface="Fira Sans Light"/>
                </a:rPr>
                <a:t> 1 </a:t>
              </a:r>
              <a:r>
                <a:rPr lang="en-US" sz="1400" dirty="0" err="1">
                  <a:solidFill>
                    <a:srgbClr val="FFFFFF"/>
                  </a:solidFill>
                  <a:ea typeface="Fira Sans Light"/>
                  <a:cs typeface="Fira Sans Light"/>
                  <a:sym typeface="Fira Sans Light"/>
                </a:rPr>
                <a:t>минуты</a:t>
              </a:r>
              <a:r>
                <a:rPr lang="en-US" sz="1400" dirty="0">
                  <a:solidFill>
                    <a:srgbClr val="FFFFFF"/>
                  </a:solidFill>
                  <a:ea typeface="Fira Sans Light"/>
                  <a:cs typeface="Fira Sans Light"/>
                  <a:sym typeface="Fira Sans Light"/>
                </a:rPr>
                <a:t> </a:t>
              </a:r>
              <a:r>
                <a:rPr lang="en-US" sz="1400" dirty="0" err="1">
                  <a:solidFill>
                    <a:srgbClr val="FFFFFF"/>
                  </a:solidFill>
                  <a:ea typeface="Fira Sans Light"/>
                  <a:cs typeface="Fira Sans Light"/>
                  <a:sym typeface="Fira Sans Light"/>
                </a:rPr>
                <a:t>на</a:t>
              </a:r>
              <a:r>
                <a:rPr lang="en-US" sz="1400" dirty="0">
                  <a:solidFill>
                    <a:srgbClr val="FFFFFF"/>
                  </a:solidFill>
                  <a:ea typeface="Fira Sans Light"/>
                  <a:cs typeface="Fira Sans Light"/>
                  <a:sym typeface="Fira Sans Light"/>
                </a:rPr>
                <a:t> </a:t>
              </a:r>
              <a:r>
                <a:rPr lang="en-US" sz="1400" dirty="0" err="1">
                  <a:solidFill>
                    <a:srgbClr val="FFFFFF"/>
                  </a:solidFill>
                  <a:ea typeface="Fira Sans Light"/>
                  <a:cs typeface="Fira Sans Light"/>
                  <a:sym typeface="Fira Sans Light"/>
                </a:rPr>
                <a:t>автомобиль</a:t>
              </a:r>
              <a:endParaRPr lang="en-US" sz="1400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endParaRPr>
            </a:p>
            <a:p>
              <a:pPr marL="388228" lvl="1" indent="-194114" algn="l">
                <a:lnSpc>
                  <a:spcPts val="2517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400" dirty="0" err="1">
                  <a:solidFill>
                    <a:srgbClr val="FFFFFF"/>
                  </a:solidFill>
                  <a:ea typeface="Fira Sans Light"/>
                  <a:cs typeface="Fira Sans Light"/>
                  <a:sym typeface="Fira Sans Light"/>
                </a:rPr>
                <a:t>Создаются</a:t>
              </a:r>
              <a:r>
                <a:rPr lang="en-US" sz="1400" dirty="0">
                  <a:solidFill>
                    <a:srgbClr val="FFFFFF"/>
                  </a:solidFill>
                  <a:ea typeface="Fira Sans Light"/>
                  <a:cs typeface="Fira Sans Light"/>
                  <a:sym typeface="Fira Sans Light"/>
                </a:rPr>
                <a:t> </a:t>
              </a:r>
              <a:r>
                <a:rPr lang="en-US" sz="1400" dirty="0" err="1">
                  <a:solidFill>
                    <a:srgbClr val="FFFFFF"/>
                  </a:solidFill>
                  <a:ea typeface="Fira Sans Light"/>
                  <a:cs typeface="Fira Sans Light"/>
                  <a:sym typeface="Fira Sans Light"/>
                </a:rPr>
                <a:t>очереди</a:t>
              </a:r>
              <a:r>
                <a:rPr lang="en-US" sz="1400" dirty="0">
                  <a:solidFill>
                    <a:srgbClr val="FFFFFF"/>
                  </a:solidFill>
                  <a:ea typeface="Fira Sans Light"/>
                  <a:cs typeface="Fira Sans Light"/>
                  <a:sym typeface="Fira Sans Light"/>
                </a:rPr>
                <a:t> в </a:t>
              </a:r>
              <a:r>
                <a:rPr lang="en-US" sz="1400" dirty="0" err="1">
                  <a:solidFill>
                    <a:srgbClr val="FFFFFF"/>
                  </a:solidFill>
                  <a:ea typeface="Fira Sans Light"/>
                  <a:cs typeface="Fira Sans Light"/>
                  <a:sym typeface="Fira Sans Light"/>
                </a:rPr>
                <a:t>часы</a:t>
              </a:r>
              <a:r>
                <a:rPr lang="en-US" sz="1400" dirty="0">
                  <a:solidFill>
                    <a:srgbClr val="FFFFFF"/>
                  </a:solidFill>
                  <a:ea typeface="Fira Sans Light"/>
                  <a:cs typeface="Fira Sans Light"/>
                  <a:sym typeface="Fira Sans Light"/>
                </a:rPr>
                <a:t> </a:t>
              </a:r>
              <a:r>
                <a:rPr lang="en-US" sz="1400" dirty="0" err="1">
                  <a:solidFill>
                    <a:srgbClr val="FFFFFF"/>
                  </a:solidFill>
                  <a:ea typeface="Fira Sans Light"/>
                  <a:cs typeface="Fira Sans Light"/>
                  <a:sym typeface="Fira Sans Light"/>
                </a:rPr>
                <a:t>пик</a:t>
              </a:r>
              <a:endParaRPr lang="en-US" sz="1400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endParaRPr>
            </a:p>
            <a:p>
              <a:pPr algn="l">
                <a:lnSpc>
                  <a:spcPts val="2377"/>
                </a:lnSpc>
                <a:spcBef>
                  <a:spcPct val="0"/>
                </a:spcBef>
              </a:pPr>
              <a:endParaRPr lang="en-US" sz="1400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endParaRPr>
            </a:p>
          </p:txBody>
        </p:sp>
      </p:grpSp>
      <p:grpSp>
        <p:nvGrpSpPr>
          <p:cNvPr id="7" name="Group 12">
            <a:extLst>
              <a:ext uri="{FF2B5EF4-FFF2-40B4-BE49-F238E27FC236}">
                <a16:creationId xmlns:a16="http://schemas.microsoft.com/office/drawing/2014/main" id="{CDF342B4-DE04-49E2-B5DB-2D5BF55D013A}"/>
              </a:ext>
            </a:extLst>
          </p:cNvPr>
          <p:cNvGrpSpPr/>
          <p:nvPr/>
        </p:nvGrpSpPr>
        <p:grpSpPr>
          <a:xfrm>
            <a:off x="685801" y="3392890"/>
            <a:ext cx="6773962" cy="1582150"/>
            <a:chOff x="0" y="-66674"/>
            <a:chExt cx="9031950" cy="2921319"/>
          </a:xfrm>
        </p:grpSpPr>
        <p:sp>
          <p:nvSpPr>
            <p:cNvPr id="8" name="TextBox 13">
              <a:extLst>
                <a:ext uri="{FF2B5EF4-FFF2-40B4-BE49-F238E27FC236}">
                  <a16:creationId xmlns:a16="http://schemas.microsoft.com/office/drawing/2014/main" id="{C1F88848-7273-482B-8E8E-07DA0919DDCF}"/>
                </a:ext>
              </a:extLst>
            </p:cNvPr>
            <p:cNvSpPr txBox="1"/>
            <p:nvPr/>
          </p:nvSpPr>
          <p:spPr>
            <a:xfrm>
              <a:off x="0" y="-66674"/>
              <a:ext cx="9031950" cy="89587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FFFFFF"/>
                  </a:solidFill>
                  <a:latin typeface="+mj-lt"/>
                  <a:ea typeface="Fira Sans Bold"/>
                  <a:cs typeface="Fira Sans Bold"/>
                  <a:sym typeface="Fira Sans Bold"/>
                </a:rPr>
                <a:t>2. ЧЕЛОВЕЧЕСКИЙ ФАКТОР И ОШИБКИ</a:t>
              </a:r>
            </a:p>
          </p:txBody>
        </p:sp>
        <p:sp>
          <p:nvSpPr>
            <p:cNvPr id="9" name="TextBox 14">
              <a:extLst>
                <a:ext uri="{FF2B5EF4-FFF2-40B4-BE49-F238E27FC236}">
                  <a16:creationId xmlns:a16="http://schemas.microsoft.com/office/drawing/2014/main" id="{1D7F9AC9-DB6C-4866-AA27-52A92680177B}"/>
                </a:ext>
              </a:extLst>
            </p:cNvPr>
            <p:cNvSpPr txBox="1"/>
            <p:nvPr/>
          </p:nvSpPr>
          <p:spPr>
            <a:xfrm>
              <a:off x="0" y="1139249"/>
              <a:ext cx="9031950" cy="17153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88228" lvl="1" indent="-194114" algn="l">
                <a:lnSpc>
                  <a:spcPts val="2517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400" dirty="0" err="1">
                  <a:solidFill>
                    <a:srgbClr val="FFFFFF"/>
                  </a:solidFill>
                  <a:ea typeface="Fira Sans Light"/>
                  <a:cs typeface="Fira Sans Light"/>
                  <a:sym typeface="Fira Sans Light"/>
                </a:rPr>
                <a:t>До</a:t>
              </a:r>
              <a:r>
                <a:rPr lang="en-US" sz="1400" u="none" dirty="0">
                  <a:solidFill>
                    <a:srgbClr val="FFFFFF"/>
                  </a:solidFill>
                  <a:ea typeface="Fira Sans Light"/>
                  <a:cs typeface="Fira Sans Light"/>
                  <a:sym typeface="Fira Sans Light"/>
                </a:rPr>
                <a:t> 15% </a:t>
              </a:r>
              <a:r>
                <a:rPr lang="en-US" sz="1400" u="none" dirty="0" err="1">
                  <a:solidFill>
                    <a:srgbClr val="FFFFFF"/>
                  </a:solidFill>
                  <a:ea typeface="Fira Sans Light"/>
                  <a:cs typeface="Fira Sans Light"/>
                  <a:sym typeface="Fira Sans Light"/>
                </a:rPr>
                <a:t>случаев</a:t>
              </a:r>
              <a:r>
                <a:rPr lang="en-US" sz="1400" u="none" dirty="0">
                  <a:solidFill>
                    <a:srgbClr val="FFFFFF"/>
                  </a:solidFill>
                  <a:ea typeface="Fira Sans Light"/>
                  <a:cs typeface="Fira Sans Light"/>
                  <a:sym typeface="Fira Sans Light"/>
                </a:rPr>
                <a:t> </a:t>
              </a:r>
              <a:r>
                <a:rPr lang="en-US" sz="1400" u="none" dirty="0" err="1">
                  <a:solidFill>
                    <a:srgbClr val="FFFFFF"/>
                  </a:solidFill>
                  <a:ea typeface="Fira Sans Light"/>
                  <a:cs typeface="Fira Sans Light"/>
                  <a:sym typeface="Fira Sans Light"/>
                </a:rPr>
                <a:t>неправильной</a:t>
              </a:r>
              <a:r>
                <a:rPr lang="en-US" sz="1400" u="none" dirty="0">
                  <a:solidFill>
                    <a:srgbClr val="FFFFFF"/>
                  </a:solidFill>
                  <a:ea typeface="Fira Sans Light"/>
                  <a:cs typeface="Fira Sans Light"/>
                  <a:sym typeface="Fira Sans Light"/>
                </a:rPr>
                <a:t> </a:t>
              </a:r>
              <a:r>
                <a:rPr lang="en-US" sz="1400" u="none" dirty="0" err="1">
                  <a:solidFill>
                    <a:srgbClr val="FFFFFF"/>
                  </a:solidFill>
                  <a:ea typeface="Fira Sans Light"/>
                  <a:cs typeface="Fira Sans Light"/>
                  <a:sym typeface="Fira Sans Light"/>
                </a:rPr>
                <a:t>проверки</a:t>
              </a:r>
              <a:r>
                <a:rPr lang="en-US" sz="1400" u="none" dirty="0">
                  <a:solidFill>
                    <a:srgbClr val="FFFFFF"/>
                  </a:solidFill>
                  <a:ea typeface="Fira Sans Light"/>
                  <a:cs typeface="Fira Sans Light"/>
                  <a:sym typeface="Fira Sans Light"/>
                </a:rPr>
                <a:t> </a:t>
              </a:r>
              <a:r>
                <a:rPr lang="en-US" sz="1400" u="none" dirty="0" err="1">
                  <a:solidFill>
                    <a:srgbClr val="FFFFFF"/>
                  </a:solidFill>
                  <a:ea typeface="Fira Sans Light"/>
                  <a:cs typeface="Fira Sans Light"/>
                  <a:sym typeface="Fira Sans Light"/>
                </a:rPr>
                <a:t>пропусков</a:t>
              </a:r>
              <a:endParaRPr lang="en-US" sz="1400" u="none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endParaRPr>
            </a:p>
            <a:p>
              <a:pPr marL="388228" lvl="1" indent="-194114" algn="l">
                <a:lnSpc>
                  <a:spcPts val="2517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400" u="none" dirty="0" err="1">
                  <a:solidFill>
                    <a:srgbClr val="FFFFFF"/>
                  </a:solidFill>
                  <a:ea typeface="Fira Sans Light"/>
                  <a:cs typeface="Fira Sans Light"/>
                  <a:sym typeface="Fira Sans Light"/>
                </a:rPr>
                <a:t>Несанкционированные</a:t>
              </a:r>
              <a:r>
                <a:rPr lang="en-US" sz="1400" u="none" dirty="0">
                  <a:solidFill>
                    <a:srgbClr val="FFFFFF"/>
                  </a:solidFill>
                  <a:ea typeface="Fira Sans Light"/>
                  <a:cs typeface="Fira Sans Light"/>
                  <a:sym typeface="Fira Sans Light"/>
                </a:rPr>
                <a:t> </a:t>
              </a:r>
              <a:r>
                <a:rPr lang="en-US" sz="1400" u="none" dirty="0" err="1">
                  <a:solidFill>
                    <a:srgbClr val="FFFFFF"/>
                  </a:solidFill>
                  <a:ea typeface="Fira Sans Light"/>
                  <a:cs typeface="Fira Sans Light"/>
                  <a:sym typeface="Fira Sans Light"/>
                </a:rPr>
                <a:t>проезды</a:t>
              </a:r>
              <a:endParaRPr lang="en-US" sz="1400" u="none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endParaRPr>
            </a:p>
            <a:p>
              <a:pPr marL="0" lvl="0" indent="0" algn="l">
                <a:lnSpc>
                  <a:spcPts val="2517"/>
                </a:lnSpc>
                <a:spcBef>
                  <a:spcPct val="0"/>
                </a:spcBef>
              </a:pPr>
              <a:endParaRPr lang="en-US" sz="1400" u="none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endParaRPr>
            </a:p>
          </p:txBody>
        </p:sp>
      </p:grpSp>
      <p:grpSp>
        <p:nvGrpSpPr>
          <p:cNvPr id="10" name="Group 15">
            <a:extLst>
              <a:ext uri="{FF2B5EF4-FFF2-40B4-BE49-F238E27FC236}">
                <a16:creationId xmlns:a16="http://schemas.microsoft.com/office/drawing/2014/main" id="{128B6ECC-C3D2-40A3-AFD2-26AE3D272D00}"/>
              </a:ext>
            </a:extLst>
          </p:cNvPr>
          <p:cNvGrpSpPr/>
          <p:nvPr/>
        </p:nvGrpSpPr>
        <p:grpSpPr>
          <a:xfrm>
            <a:off x="685801" y="4760911"/>
            <a:ext cx="6773962" cy="1493750"/>
            <a:chOff x="0" y="-66676"/>
            <a:chExt cx="9031950" cy="3189854"/>
          </a:xfrm>
        </p:grpSpPr>
        <p:sp>
          <p:nvSpPr>
            <p:cNvPr id="11" name="TextBox 16">
              <a:extLst>
                <a:ext uri="{FF2B5EF4-FFF2-40B4-BE49-F238E27FC236}">
                  <a16:creationId xmlns:a16="http://schemas.microsoft.com/office/drawing/2014/main" id="{02BF53D9-A10F-4F7D-B57A-E8F8E7B6BE3C}"/>
                </a:ext>
              </a:extLst>
            </p:cNvPr>
            <p:cNvSpPr txBox="1"/>
            <p:nvPr/>
          </p:nvSpPr>
          <p:spPr>
            <a:xfrm>
              <a:off x="0" y="-66676"/>
              <a:ext cx="9031950" cy="10361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FFFFFF"/>
                  </a:solidFill>
                  <a:latin typeface="+mj-lt"/>
                  <a:ea typeface="Fira Sans Bold"/>
                  <a:cs typeface="Fira Sans Bold"/>
                  <a:sym typeface="Fira Sans Bold"/>
                </a:rPr>
                <a:t>3. ОТСУТСТВИЕ АНАЛИТИКИ И УЧЕТА</a:t>
              </a:r>
            </a:p>
          </p:txBody>
        </p:sp>
        <p:sp>
          <p:nvSpPr>
            <p:cNvPr id="12" name="TextBox 17">
              <a:extLst>
                <a:ext uri="{FF2B5EF4-FFF2-40B4-BE49-F238E27FC236}">
                  <a16:creationId xmlns:a16="http://schemas.microsoft.com/office/drawing/2014/main" id="{63D3C510-4724-4841-88BE-22F25AAA8CA2}"/>
                </a:ext>
              </a:extLst>
            </p:cNvPr>
            <p:cNvSpPr txBox="1"/>
            <p:nvPr/>
          </p:nvSpPr>
          <p:spPr>
            <a:xfrm>
              <a:off x="0" y="1139250"/>
              <a:ext cx="9031950" cy="19839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88228" lvl="1" indent="-194114" algn="l">
                <a:lnSpc>
                  <a:spcPts val="2517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400">
                  <a:solidFill>
                    <a:srgbClr val="FFFFFF"/>
                  </a:solidFill>
                  <a:ea typeface="Fira Sans Light"/>
                  <a:cs typeface="Fira Sans Light"/>
                  <a:sym typeface="Fira Sans Light"/>
                </a:rPr>
                <a:t>Н</a:t>
              </a:r>
              <a:r>
                <a:rPr lang="en-US" sz="1400" u="none">
                  <a:solidFill>
                    <a:srgbClr val="FFFFFF"/>
                  </a:solidFill>
                  <a:ea typeface="Fira Sans Light"/>
                  <a:cs typeface="Fira Sans Light"/>
                  <a:sym typeface="Fira Sans Light"/>
                </a:rPr>
                <a:t>евозможность анализировать транспортные потоки</a:t>
              </a:r>
            </a:p>
            <a:p>
              <a:pPr marL="388228" lvl="1" indent="-194114" algn="l">
                <a:lnSpc>
                  <a:spcPts val="2517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400" u="none">
                  <a:solidFill>
                    <a:srgbClr val="FFFFFF"/>
                  </a:solidFill>
                  <a:ea typeface="Fira Sans Light"/>
                  <a:cs typeface="Fira Sans Light"/>
                  <a:sym typeface="Fira Sans Light"/>
                </a:rPr>
                <a:t>Нет данных для оптимизации парковочного пространства</a:t>
              </a:r>
            </a:p>
            <a:p>
              <a:pPr marL="0" lvl="0" indent="0" algn="l">
                <a:lnSpc>
                  <a:spcPts val="2517"/>
                </a:lnSpc>
                <a:spcBef>
                  <a:spcPct val="0"/>
                </a:spcBef>
              </a:pPr>
              <a:endParaRPr lang="en-US" sz="1400" u="none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endParaRPr>
            </a:p>
          </p:txBody>
        </p:sp>
      </p:grpSp>
      <p:sp>
        <p:nvSpPr>
          <p:cNvPr id="13" name="TextBox 19">
            <a:extLst>
              <a:ext uri="{FF2B5EF4-FFF2-40B4-BE49-F238E27FC236}">
                <a16:creationId xmlns:a16="http://schemas.microsoft.com/office/drawing/2014/main" id="{25DE0080-C752-44FC-AA68-06C4FEFED7D1}"/>
              </a:ext>
            </a:extLst>
          </p:cNvPr>
          <p:cNvSpPr txBox="1"/>
          <p:nvPr/>
        </p:nvSpPr>
        <p:spPr>
          <a:xfrm>
            <a:off x="6551195" y="595622"/>
            <a:ext cx="5410199" cy="2413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27"/>
              </a:lnSpc>
              <a:spcBef>
                <a:spcPct val="0"/>
              </a:spcBef>
            </a:pPr>
            <a:r>
              <a:rPr lang="en-US" sz="1600" b="1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ТЕКУЩИЕ РЕШЕНИЯ РЕСПОНДЕНТОВ:</a:t>
            </a:r>
          </a:p>
          <a:p>
            <a:pPr marL="497785" lvl="1" indent="-248892" algn="l">
              <a:lnSpc>
                <a:spcPts val="3227"/>
              </a:lnSpc>
              <a:spcBef>
                <a:spcPct val="0"/>
              </a:spcBef>
              <a:buFont typeface="Arial"/>
              <a:buChar char="•"/>
            </a:pPr>
            <a:r>
              <a:rPr lang="en-US" sz="1600" dirty="0">
                <a:solidFill>
                  <a:srgbClr val="FFFFFF"/>
                </a:solidFill>
                <a:ea typeface="Fira Sans"/>
                <a:cs typeface="Fira Sans"/>
                <a:sym typeface="Fira Sans"/>
              </a:rPr>
              <a:t>УВЕЛИЧЕНИЕ ШТАТА ОХРАНЫ (+40% К РАСХОДАМ)</a:t>
            </a:r>
          </a:p>
          <a:p>
            <a:pPr marL="497785" lvl="1" indent="-248892" algn="l">
              <a:lnSpc>
                <a:spcPts val="3227"/>
              </a:lnSpc>
              <a:spcBef>
                <a:spcPct val="0"/>
              </a:spcBef>
              <a:buFont typeface="Arial"/>
              <a:buChar char="•"/>
            </a:pPr>
            <a:r>
              <a:rPr lang="en-US" sz="1600" dirty="0">
                <a:solidFill>
                  <a:srgbClr val="FFFFFF"/>
                </a:solidFill>
                <a:ea typeface="Fira Sans"/>
                <a:cs typeface="Fira Sans"/>
                <a:sym typeface="Fira Sans"/>
              </a:rPr>
              <a:t>УСТАНОВКА ДОПОЛНИТЕЛЬНЫХ КАМЕР БЕЗ АНАЛИТИКИ</a:t>
            </a:r>
          </a:p>
          <a:p>
            <a:pPr marL="497785" lvl="1" indent="-248892" algn="l">
              <a:lnSpc>
                <a:spcPts val="3227"/>
              </a:lnSpc>
              <a:spcBef>
                <a:spcPct val="0"/>
              </a:spcBef>
              <a:buFont typeface="Arial"/>
              <a:buChar char="•"/>
            </a:pPr>
            <a:r>
              <a:rPr lang="en-US" sz="1600" dirty="0">
                <a:solidFill>
                  <a:srgbClr val="FFFFFF"/>
                </a:solidFill>
                <a:ea typeface="Fira Sans"/>
                <a:cs typeface="Fira Sans"/>
                <a:sym typeface="Fira Sans"/>
              </a:rPr>
              <a:t>РУЧНОЕ ВЕДЕНИЕ ЖУРНАЛОВ УЧЕТА</a:t>
            </a:r>
          </a:p>
          <a:p>
            <a:pPr algn="l">
              <a:lnSpc>
                <a:spcPts val="3227"/>
              </a:lnSpc>
              <a:spcBef>
                <a:spcPct val="0"/>
              </a:spcBef>
            </a:pPr>
            <a:endParaRPr lang="en-US" sz="1600" dirty="0">
              <a:solidFill>
                <a:srgbClr val="FFFFFF"/>
              </a:solidFill>
              <a:ea typeface="Fira Sans"/>
              <a:cs typeface="Fira Sans"/>
              <a:sym typeface="Fira Sans"/>
            </a:endParaRPr>
          </a:p>
        </p:txBody>
      </p:sp>
      <p:sp>
        <p:nvSpPr>
          <p:cNvPr id="14" name="TextBox 18">
            <a:extLst>
              <a:ext uri="{FF2B5EF4-FFF2-40B4-BE49-F238E27FC236}">
                <a16:creationId xmlns:a16="http://schemas.microsoft.com/office/drawing/2014/main" id="{3F26DC4A-B888-4EB6-BE7C-24C7AE0B2AD8}"/>
              </a:ext>
            </a:extLst>
          </p:cNvPr>
          <p:cNvSpPr txBox="1"/>
          <p:nvPr/>
        </p:nvSpPr>
        <p:spPr>
          <a:xfrm>
            <a:off x="6611975" y="3177276"/>
            <a:ext cx="2513173" cy="29233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327"/>
              </a:lnSpc>
              <a:spcBef>
                <a:spcPct val="0"/>
              </a:spcBef>
            </a:pPr>
            <a:r>
              <a:rPr lang="en-US" sz="1400" b="1" dirty="0">
                <a:solidFill>
                  <a:schemeClr val="tx1">
                    <a:lumMod val="95000"/>
                  </a:schemeClr>
                </a:solidFill>
                <a:ea typeface="Fira Sans Bold"/>
                <a:cs typeface="Fira Sans Bold"/>
                <a:sym typeface="Fira Sans Bold"/>
              </a:rPr>
              <a:t>ПРОВЕДЕНО 27 ИНТЕРВЬЮ С ПРЕДСТАВИТЕЛЯМИ:</a:t>
            </a:r>
          </a:p>
          <a:p>
            <a:pPr algn="l">
              <a:lnSpc>
                <a:spcPts val="2327"/>
              </a:lnSpc>
              <a:spcBef>
                <a:spcPct val="0"/>
              </a:spcBef>
            </a:pPr>
            <a:r>
              <a:rPr lang="en-US" sz="1400" dirty="0">
                <a:solidFill>
                  <a:schemeClr val="tx1">
                    <a:lumMod val="95000"/>
                  </a:schemeClr>
                </a:solidFill>
                <a:ea typeface="Fira Sans"/>
                <a:cs typeface="Fira Sans"/>
                <a:sym typeface="Fira Sans"/>
              </a:rPr>
              <a:t>УПРАВЛЯЮЩИЕ ЖК И БИЗНЕС-ЦЕНТРОВ (12)</a:t>
            </a:r>
          </a:p>
          <a:p>
            <a:pPr algn="l">
              <a:lnSpc>
                <a:spcPts val="2327"/>
              </a:lnSpc>
              <a:spcBef>
                <a:spcPct val="0"/>
              </a:spcBef>
            </a:pPr>
            <a:r>
              <a:rPr lang="en-US" sz="1400" dirty="0">
                <a:solidFill>
                  <a:schemeClr val="tx1">
                    <a:lumMod val="95000"/>
                  </a:schemeClr>
                </a:solidFill>
                <a:ea typeface="Fira Sans"/>
                <a:cs typeface="Fira Sans"/>
                <a:sym typeface="Fira Sans"/>
              </a:rPr>
              <a:t>НАЧАЛЬНИКИ СКЛАДОВ И ЛОГИСТИЧЕСКИХ ТЕРМИНАЛОВ (8)</a:t>
            </a:r>
          </a:p>
          <a:p>
            <a:pPr algn="l">
              <a:lnSpc>
                <a:spcPts val="2327"/>
              </a:lnSpc>
              <a:spcBef>
                <a:spcPct val="0"/>
              </a:spcBef>
            </a:pPr>
            <a:r>
              <a:rPr lang="en-US" sz="1400" dirty="0">
                <a:solidFill>
                  <a:schemeClr val="tx1">
                    <a:lumMod val="95000"/>
                  </a:schemeClr>
                </a:solidFill>
                <a:ea typeface="Fira Sans"/>
                <a:cs typeface="Fira Sans"/>
                <a:sym typeface="Fira Sans"/>
              </a:rPr>
              <a:t>ВЛАДЕЛЬЦЫ ЧАСТНЫХ ПАРКОВОК И СНТ (7)</a:t>
            </a:r>
          </a:p>
          <a:p>
            <a:pPr algn="l">
              <a:lnSpc>
                <a:spcPts val="2327"/>
              </a:lnSpc>
              <a:spcBef>
                <a:spcPct val="0"/>
              </a:spcBef>
            </a:pPr>
            <a:endParaRPr lang="en-US" sz="1400" dirty="0">
              <a:solidFill>
                <a:schemeClr val="tx1">
                  <a:lumMod val="95000"/>
                </a:schemeClr>
              </a:solidFill>
              <a:ea typeface="Fira Sans"/>
              <a:cs typeface="Fira Sans"/>
              <a:sym typeface="Fira Sans"/>
            </a:endParaRPr>
          </a:p>
        </p:txBody>
      </p:sp>
      <p:sp>
        <p:nvSpPr>
          <p:cNvPr id="15" name="TextBox 20">
            <a:extLst>
              <a:ext uri="{FF2B5EF4-FFF2-40B4-BE49-F238E27FC236}">
                <a16:creationId xmlns:a16="http://schemas.microsoft.com/office/drawing/2014/main" id="{7218FC3F-E9B8-4BE5-8D4D-6F5DA26DE2BE}"/>
              </a:ext>
            </a:extLst>
          </p:cNvPr>
          <p:cNvSpPr txBox="1"/>
          <p:nvPr/>
        </p:nvSpPr>
        <p:spPr>
          <a:xfrm>
            <a:off x="9256295" y="3177276"/>
            <a:ext cx="2799092" cy="27404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380"/>
              </a:lnSpc>
              <a:spcBef>
                <a:spcPct val="0"/>
              </a:spcBef>
            </a:pPr>
            <a:r>
              <a:rPr lang="en-US" sz="1400" b="1" dirty="0">
                <a:solidFill>
                  <a:schemeClr val="tx1">
                    <a:lumMod val="95000"/>
                  </a:schemeClr>
                </a:solidFill>
                <a:ea typeface="Fira Sans Bold"/>
                <a:cs typeface="Fira Sans Bold"/>
                <a:sym typeface="Fira Sans Bold"/>
              </a:rPr>
              <a:t>КЛЮЧЕВЫЕ ВОПРОСЫ:</a:t>
            </a:r>
          </a:p>
          <a:p>
            <a:pPr algn="l">
              <a:lnSpc>
                <a:spcPts val="2380"/>
              </a:lnSpc>
              <a:spcBef>
                <a:spcPct val="0"/>
              </a:spcBef>
            </a:pPr>
            <a:r>
              <a:rPr lang="en-US" sz="1400" dirty="0">
                <a:solidFill>
                  <a:schemeClr val="tx1">
                    <a:lumMod val="95000"/>
                  </a:schemeClr>
                </a:solidFill>
                <a:ea typeface="Fira Sans"/>
                <a:cs typeface="Fira Sans"/>
                <a:sym typeface="Fira Sans"/>
              </a:rPr>
              <a:t>"СКОЛЬКО ВРЕМЕНИ ЗАНИМАЕТ ПРОПУСК ОДНОГО АВТОМОБИЛЯ?"</a:t>
            </a:r>
          </a:p>
          <a:p>
            <a:pPr algn="l">
              <a:lnSpc>
                <a:spcPts val="2380"/>
              </a:lnSpc>
              <a:spcBef>
                <a:spcPct val="0"/>
              </a:spcBef>
            </a:pPr>
            <a:r>
              <a:rPr lang="en-US" sz="1400" dirty="0">
                <a:solidFill>
                  <a:schemeClr val="tx1">
                    <a:lumMod val="95000"/>
                  </a:schemeClr>
                </a:solidFill>
                <a:ea typeface="Fira Sans"/>
                <a:cs typeface="Fira Sans"/>
                <a:sym typeface="Fira Sans"/>
              </a:rPr>
              <a:t>"КАК ЧАСТО ВОЗНИКАЮТ ОШИБКИ ПРИ ПРОПУСКЕ?"</a:t>
            </a:r>
          </a:p>
          <a:p>
            <a:pPr algn="l">
              <a:lnSpc>
                <a:spcPts val="2380"/>
              </a:lnSpc>
              <a:spcBef>
                <a:spcPct val="0"/>
              </a:spcBef>
            </a:pPr>
            <a:r>
              <a:rPr lang="en-US" sz="1400" dirty="0">
                <a:solidFill>
                  <a:schemeClr val="tx1">
                    <a:lumMod val="95000"/>
                  </a:schemeClr>
                </a:solidFill>
                <a:ea typeface="Fira Sans"/>
                <a:cs typeface="Fira Sans"/>
                <a:sym typeface="Fira Sans"/>
              </a:rPr>
              <a:t>"КАКИЕ ДАННЫЕ О ТРАНСПОРТНЫХ ПОТОКАХ ВАМ НУЖНЫ?"</a:t>
            </a:r>
          </a:p>
          <a:p>
            <a:pPr algn="l">
              <a:lnSpc>
                <a:spcPts val="2380"/>
              </a:lnSpc>
              <a:spcBef>
                <a:spcPct val="0"/>
              </a:spcBef>
            </a:pPr>
            <a:r>
              <a:rPr lang="en-US" sz="1400" dirty="0">
                <a:solidFill>
                  <a:schemeClr val="tx1">
                    <a:lumMod val="95000"/>
                  </a:schemeClr>
                </a:solidFill>
                <a:ea typeface="Fira Sans"/>
                <a:cs typeface="Fira Sans"/>
                <a:sym typeface="Fira Sans"/>
              </a:rPr>
              <a:t>"КАК ВЫ РЕШАЕТЕ ЭТИ ПРОБЛЕМЫ СЕЙЧАС?"</a:t>
            </a:r>
          </a:p>
        </p:txBody>
      </p:sp>
    </p:spTree>
    <p:extLst>
      <p:ext uri="{BB962C8B-B14F-4D97-AF65-F5344CB8AC3E}">
        <p14:creationId xmlns:p14="http://schemas.microsoft.com/office/powerpoint/2010/main" val="33061866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451F1B-B6B4-41A9-BA3F-8EA3F82E5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0"/>
            <a:ext cx="4142873" cy="1456267"/>
          </a:xfrm>
        </p:spPr>
        <p:txBody>
          <a:bodyPr>
            <a:normAutofit/>
          </a:bodyPr>
          <a:lstStyle/>
          <a:p>
            <a:r>
              <a:rPr lang="ru-RU" sz="7200" dirty="0"/>
              <a:t>Решения</a:t>
            </a:r>
          </a:p>
        </p:txBody>
      </p:sp>
      <p:sp>
        <p:nvSpPr>
          <p:cNvPr id="4" name="TextBox 10">
            <a:extLst>
              <a:ext uri="{FF2B5EF4-FFF2-40B4-BE49-F238E27FC236}">
                <a16:creationId xmlns:a16="http://schemas.microsoft.com/office/drawing/2014/main" id="{DFD1C169-9741-451A-AAD8-44E139F27800}"/>
              </a:ext>
            </a:extLst>
          </p:cNvPr>
          <p:cNvSpPr txBox="1"/>
          <p:nvPr/>
        </p:nvSpPr>
        <p:spPr>
          <a:xfrm>
            <a:off x="685801" y="2065867"/>
            <a:ext cx="6196262" cy="4716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FFFFFF"/>
                </a:solidFill>
                <a:latin typeface="+mj-lt"/>
                <a:ea typeface="Fira Sans Bold"/>
                <a:cs typeface="Fira Sans Bold"/>
                <a:sym typeface="Fira Sans Bold"/>
              </a:rPr>
              <a:t>1. ПОЛНАЯ АВТОМАТИЗАЦИЯ ПРОПУСКНОГО РЕЖИМА</a:t>
            </a:r>
          </a:p>
        </p:txBody>
      </p:sp>
      <p:sp>
        <p:nvSpPr>
          <p:cNvPr id="5" name="TextBox 11">
            <a:extLst>
              <a:ext uri="{FF2B5EF4-FFF2-40B4-BE49-F238E27FC236}">
                <a16:creationId xmlns:a16="http://schemas.microsoft.com/office/drawing/2014/main" id="{7E19DFBB-205B-42E8-BA7E-A6FAA04E2743}"/>
              </a:ext>
            </a:extLst>
          </p:cNvPr>
          <p:cNvSpPr txBox="1"/>
          <p:nvPr/>
        </p:nvSpPr>
        <p:spPr>
          <a:xfrm>
            <a:off x="685801" y="2537535"/>
            <a:ext cx="5057273" cy="6306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88228" lvl="1" indent="-194114" algn="l">
              <a:lnSpc>
                <a:spcPts val="2517"/>
              </a:lnSpc>
              <a:spcBef>
                <a:spcPct val="0"/>
              </a:spcBef>
              <a:buFont typeface="Arial"/>
              <a:buChar char="•"/>
            </a:pPr>
            <a:r>
              <a:rPr lang="en-US" sz="1400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Распо</a:t>
            </a:r>
            <a:r>
              <a:rPr lang="en-US" sz="1400" u="none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знавание</a:t>
            </a:r>
            <a:r>
              <a:rPr lang="en-US" sz="1400" u="none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</a:t>
            </a:r>
            <a:r>
              <a:rPr lang="en-US" sz="1400" u="none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номера</a:t>
            </a:r>
            <a:r>
              <a:rPr lang="en-US" sz="1400" u="none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</a:t>
            </a:r>
            <a:r>
              <a:rPr lang="en-US" sz="1400" u="none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за</a:t>
            </a:r>
            <a:r>
              <a:rPr lang="en-US" sz="1400" u="none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5 </a:t>
            </a:r>
            <a:r>
              <a:rPr lang="en-US" sz="1400" u="none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секунд</a:t>
            </a:r>
            <a:r>
              <a:rPr lang="en-US" sz="1400" u="none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</a:t>
            </a:r>
            <a:r>
              <a:rPr lang="en-US" sz="1400" u="none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вместо</a:t>
            </a:r>
            <a:r>
              <a:rPr lang="en-US" sz="1400" u="none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60</a:t>
            </a:r>
          </a:p>
          <a:p>
            <a:pPr marL="388228" lvl="1" indent="-194114" algn="l">
              <a:lnSpc>
                <a:spcPts val="2517"/>
              </a:lnSpc>
              <a:spcBef>
                <a:spcPct val="0"/>
              </a:spcBef>
              <a:buFont typeface="Arial"/>
              <a:buChar char="•"/>
            </a:pPr>
            <a:r>
              <a:rPr lang="en-US" sz="1400" u="none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Исключение</a:t>
            </a:r>
            <a:r>
              <a:rPr lang="en-US" sz="1400" u="none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</a:t>
            </a:r>
            <a:r>
              <a:rPr lang="en-US" sz="1400" u="none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ручных</a:t>
            </a:r>
            <a:r>
              <a:rPr lang="en-US" sz="1400" u="none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</a:t>
            </a:r>
            <a:r>
              <a:rPr lang="en-US" sz="1400" u="none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проверок</a:t>
            </a:r>
            <a:r>
              <a:rPr lang="en-US" sz="1400" u="none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и </a:t>
            </a:r>
            <a:r>
              <a:rPr lang="en-US" sz="1400" u="none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очередей</a:t>
            </a:r>
            <a:endParaRPr lang="en-US" sz="1400" u="none" dirty="0">
              <a:solidFill>
                <a:srgbClr val="FFFFFF"/>
              </a:solidFill>
              <a:ea typeface="Fira Sans Light"/>
              <a:cs typeface="Fira Sans Light"/>
              <a:sym typeface="Fira Sans Light"/>
            </a:endParaRPr>
          </a:p>
        </p:txBody>
      </p:sp>
      <p:sp>
        <p:nvSpPr>
          <p:cNvPr id="6" name="TextBox 12">
            <a:extLst>
              <a:ext uri="{FF2B5EF4-FFF2-40B4-BE49-F238E27FC236}">
                <a16:creationId xmlns:a16="http://schemas.microsoft.com/office/drawing/2014/main" id="{FFD8D47A-17B3-4617-92DE-B15BE016F574}"/>
              </a:ext>
            </a:extLst>
          </p:cNvPr>
          <p:cNvSpPr txBox="1"/>
          <p:nvPr/>
        </p:nvSpPr>
        <p:spPr>
          <a:xfrm>
            <a:off x="685801" y="3193166"/>
            <a:ext cx="6725652" cy="4716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FFFFFF"/>
                </a:solidFill>
                <a:latin typeface="+mj-lt"/>
                <a:ea typeface="Fira Sans Bold"/>
                <a:cs typeface="Fira Sans Bold"/>
                <a:sym typeface="Fira Sans Bold"/>
              </a:rPr>
              <a:t>2. ТОЧНАЯ ИДЕНТИФИКАЦИЯ БЕЗ ЧЕЛОВЕЧЕСКОГО ФАКТОРА</a:t>
            </a:r>
          </a:p>
        </p:txBody>
      </p:sp>
      <p:sp>
        <p:nvSpPr>
          <p:cNvPr id="7" name="TextBox 13">
            <a:extLst>
              <a:ext uri="{FF2B5EF4-FFF2-40B4-BE49-F238E27FC236}">
                <a16:creationId xmlns:a16="http://schemas.microsoft.com/office/drawing/2014/main" id="{F81FDB46-B7C7-4D90-AA0A-9C8CA74909CC}"/>
              </a:ext>
            </a:extLst>
          </p:cNvPr>
          <p:cNvSpPr txBox="1"/>
          <p:nvPr/>
        </p:nvSpPr>
        <p:spPr>
          <a:xfrm>
            <a:off x="685800" y="3689864"/>
            <a:ext cx="5057273" cy="9449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88228" lvl="1" indent="-194114" algn="l">
              <a:lnSpc>
                <a:spcPts val="2517"/>
              </a:lnSpc>
              <a:spcBef>
                <a:spcPct val="0"/>
              </a:spcBef>
              <a:buFont typeface="Arial"/>
              <a:buChar char="•"/>
            </a:pPr>
            <a:r>
              <a:rPr lang="en-US" sz="1400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Точность</a:t>
            </a:r>
            <a:r>
              <a:rPr lang="en-US" sz="1400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</a:t>
            </a:r>
            <a:r>
              <a:rPr lang="en-US" sz="1400" u="none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распознавания</a:t>
            </a:r>
            <a:r>
              <a:rPr lang="en-US" sz="1400" u="none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99.7%</a:t>
            </a:r>
          </a:p>
          <a:p>
            <a:pPr marL="388228" lvl="1" indent="-194114" algn="l">
              <a:lnSpc>
                <a:spcPts val="2517"/>
              </a:lnSpc>
              <a:spcBef>
                <a:spcPct val="0"/>
              </a:spcBef>
              <a:buFont typeface="Arial"/>
              <a:buChar char="•"/>
            </a:pPr>
            <a:r>
              <a:rPr lang="en-US" sz="1400" u="none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Автоматическая</a:t>
            </a:r>
            <a:r>
              <a:rPr lang="en-US" sz="1400" u="none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</a:t>
            </a:r>
            <a:r>
              <a:rPr lang="en-US" sz="1400" u="none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сверка</a:t>
            </a:r>
            <a:r>
              <a:rPr lang="en-US" sz="1400" u="none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с </a:t>
            </a:r>
            <a:r>
              <a:rPr lang="en-US" sz="1400" u="none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базой</a:t>
            </a:r>
            <a:r>
              <a:rPr lang="en-US" sz="1400" u="none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</a:t>
            </a:r>
            <a:r>
              <a:rPr lang="en-US" sz="1400" u="none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пропусков</a:t>
            </a:r>
            <a:endParaRPr lang="en-US" sz="1400" u="none" dirty="0">
              <a:solidFill>
                <a:srgbClr val="FFFFFF"/>
              </a:solidFill>
              <a:ea typeface="Fira Sans Light"/>
              <a:cs typeface="Fira Sans Light"/>
              <a:sym typeface="Fira Sans Light"/>
            </a:endParaRPr>
          </a:p>
          <a:p>
            <a:pPr marL="388228" lvl="1" indent="-194114" algn="l">
              <a:lnSpc>
                <a:spcPts val="2517"/>
              </a:lnSpc>
              <a:spcBef>
                <a:spcPct val="0"/>
              </a:spcBef>
              <a:buFont typeface="Arial"/>
              <a:buChar char="•"/>
            </a:pPr>
            <a:r>
              <a:rPr lang="en-US" sz="1400" u="none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Фотофиксация</a:t>
            </a:r>
            <a:r>
              <a:rPr lang="en-US" sz="1400" u="none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</a:t>
            </a:r>
            <a:r>
              <a:rPr lang="en-US" sz="1400" u="none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всех</a:t>
            </a:r>
            <a:r>
              <a:rPr lang="en-US" sz="1400" u="none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</a:t>
            </a:r>
            <a:r>
              <a:rPr lang="en-US" sz="1400" u="none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въездов</a:t>
            </a:r>
            <a:r>
              <a:rPr lang="en-US" sz="1400" u="none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/</a:t>
            </a:r>
            <a:r>
              <a:rPr lang="en-US" sz="1400" u="none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выездов</a:t>
            </a:r>
            <a:endParaRPr lang="en-US" sz="1400" u="none" dirty="0">
              <a:solidFill>
                <a:srgbClr val="FFFFFF"/>
              </a:solidFill>
              <a:ea typeface="Fira Sans Light"/>
              <a:cs typeface="Fira Sans Light"/>
              <a:sym typeface="Fira Sans Light"/>
            </a:endParaRPr>
          </a:p>
        </p:txBody>
      </p:sp>
      <p:sp>
        <p:nvSpPr>
          <p:cNvPr id="8" name="TextBox 14">
            <a:extLst>
              <a:ext uri="{FF2B5EF4-FFF2-40B4-BE49-F238E27FC236}">
                <a16:creationId xmlns:a16="http://schemas.microsoft.com/office/drawing/2014/main" id="{47442E87-4F4A-4138-A257-4BE9921A7279}"/>
              </a:ext>
            </a:extLst>
          </p:cNvPr>
          <p:cNvSpPr txBox="1"/>
          <p:nvPr/>
        </p:nvSpPr>
        <p:spPr>
          <a:xfrm>
            <a:off x="685800" y="4634790"/>
            <a:ext cx="9739684" cy="4716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FFFFFF"/>
                </a:solidFill>
                <a:latin typeface="+mj-lt"/>
                <a:ea typeface="Fira Sans Bold"/>
                <a:cs typeface="Fira Sans Bold"/>
                <a:sym typeface="Fira Sans Bold"/>
              </a:rPr>
              <a:t>3. ГЛУБОКАЯ АНАЛИТИКА В РЕАЛЬНОМ ВРЕМЕНИ</a:t>
            </a:r>
          </a:p>
        </p:txBody>
      </p:sp>
      <p:sp>
        <p:nvSpPr>
          <p:cNvPr id="9" name="TextBox 15">
            <a:extLst>
              <a:ext uri="{FF2B5EF4-FFF2-40B4-BE49-F238E27FC236}">
                <a16:creationId xmlns:a16="http://schemas.microsoft.com/office/drawing/2014/main" id="{0B0A37FD-4925-4570-9397-0CAE9AC40D76}"/>
              </a:ext>
            </a:extLst>
          </p:cNvPr>
          <p:cNvSpPr txBox="1"/>
          <p:nvPr/>
        </p:nvSpPr>
        <p:spPr>
          <a:xfrm>
            <a:off x="685800" y="5106458"/>
            <a:ext cx="4521868" cy="9449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88228" lvl="1" indent="-194114" algn="l">
              <a:lnSpc>
                <a:spcPts val="2517"/>
              </a:lnSpc>
              <a:spcBef>
                <a:spcPct val="0"/>
              </a:spcBef>
              <a:buFont typeface="Arial"/>
              <a:buChar char="•"/>
            </a:pPr>
            <a:r>
              <a:rPr lang="en-US" sz="1400" dirty="0" err="1">
                <a:solidFill>
                  <a:srgbClr val="FFFFFF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Мо</a:t>
            </a:r>
            <a:r>
              <a:rPr lang="en-US" sz="1400" u="none" dirty="0" err="1">
                <a:solidFill>
                  <a:srgbClr val="FFFFFF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ниторинг</a:t>
            </a:r>
            <a:r>
              <a:rPr lang="en-US" sz="1400" u="none" dirty="0">
                <a:solidFill>
                  <a:srgbClr val="FFFFFF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 </a:t>
            </a:r>
            <a:r>
              <a:rPr lang="en-US" sz="1400" u="none" dirty="0" err="1">
                <a:solidFill>
                  <a:srgbClr val="FFFFFF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загрузки</a:t>
            </a:r>
            <a:r>
              <a:rPr lang="en-US" sz="1400" u="none" dirty="0">
                <a:solidFill>
                  <a:srgbClr val="FFFFFF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 </a:t>
            </a:r>
            <a:r>
              <a:rPr lang="en-US" sz="1400" u="none" dirty="0" err="1">
                <a:solidFill>
                  <a:srgbClr val="FFFFFF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парковки</a:t>
            </a:r>
            <a:endParaRPr lang="en-US" sz="1400" u="none" dirty="0">
              <a:solidFill>
                <a:srgbClr val="FFFFFF"/>
              </a:solidFill>
              <a:latin typeface="Fira Sans Light"/>
              <a:ea typeface="Fira Sans Light"/>
              <a:cs typeface="Fira Sans Light"/>
              <a:sym typeface="Fira Sans Light"/>
            </a:endParaRPr>
          </a:p>
          <a:p>
            <a:pPr marL="388228" lvl="1" indent="-194114" algn="l">
              <a:lnSpc>
                <a:spcPts val="2517"/>
              </a:lnSpc>
              <a:spcBef>
                <a:spcPct val="0"/>
              </a:spcBef>
              <a:buFont typeface="Arial"/>
              <a:buChar char="•"/>
            </a:pPr>
            <a:r>
              <a:rPr lang="en-US" sz="1400" u="none" dirty="0" err="1">
                <a:solidFill>
                  <a:srgbClr val="FFFFFF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Статистика</a:t>
            </a:r>
            <a:r>
              <a:rPr lang="en-US" sz="1400" u="none" dirty="0">
                <a:solidFill>
                  <a:srgbClr val="FFFFFF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 </a:t>
            </a:r>
            <a:r>
              <a:rPr lang="en-US" sz="1400" u="none" dirty="0" err="1">
                <a:solidFill>
                  <a:srgbClr val="FFFFFF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по</a:t>
            </a:r>
            <a:r>
              <a:rPr lang="en-US" sz="1400" u="none" dirty="0">
                <a:solidFill>
                  <a:srgbClr val="FFFFFF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 </a:t>
            </a:r>
            <a:r>
              <a:rPr lang="en-US" sz="1400" u="none" dirty="0" err="1">
                <a:solidFill>
                  <a:srgbClr val="FFFFFF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часам</a:t>
            </a:r>
            <a:r>
              <a:rPr lang="en-US" sz="1400" u="none" dirty="0">
                <a:solidFill>
                  <a:srgbClr val="FFFFFF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 </a:t>
            </a:r>
            <a:r>
              <a:rPr lang="en-US" sz="1400" u="none" dirty="0" err="1">
                <a:solidFill>
                  <a:srgbClr val="FFFFFF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пик</a:t>
            </a:r>
            <a:r>
              <a:rPr lang="en-US" sz="1400" u="none" dirty="0">
                <a:solidFill>
                  <a:srgbClr val="FFFFFF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 и </a:t>
            </a:r>
            <a:r>
              <a:rPr lang="en-US" sz="1400" u="none" dirty="0" err="1">
                <a:solidFill>
                  <a:srgbClr val="FFFFFF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сезонам</a:t>
            </a:r>
            <a:endParaRPr lang="en-US" sz="1400" u="none" dirty="0">
              <a:solidFill>
                <a:srgbClr val="FFFFFF"/>
              </a:solidFill>
              <a:latin typeface="Fira Sans Light"/>
              <a:ea typeface="Fira Sans Light"/>
              <a:cs typeface="Fira Sans Light"/>
              <a:sym typeface="Fira Sans Light"/>
            </a:endParaRPr>
          </a:p>
          <a:p>
            <a:pPr marL="388228" lvl="1" indent="-194114" algn="l">
              <a:lnSpc>
                <a:spcPts val="2517"/>
              </a:lnSpc>
              <a:spcBef>
                <a:spcPct val="0"/>
              </a:spcBef>
              <a:buFont typeface="Arial"/>
              <a:buChar char="•"/>
            </a:pPr>
            <a:r>
              <a:rPr lang="en-US" sz="1400" u="none" dirty="0" err="1">
                <a:solidFill>
                  <a:srgbClr val="FFFFFF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Автоматические</a:t>
            </a:r>
            <a:r>
              <a:rPr lang="en-US" sz="1400" u="none" dirty="0">
                <a:solidFill>
                  <a:srgbClr val="FFFFFF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 </a:t>
            </a:r>
            <a:r>
              <a:rPr lang="en-US" sz="1400" u="none" dirty="0" err="1">
                <a:solidFill>
                  <a:srgbClr val="FFFFFF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отчеты</a:t>
            </a:r>
            <a:r>
              <a:rPr lang="en-US" sz="1400" u="none" dirty="0">
                <a:solidFill>
                  <a:srgbClr val="FFFFFF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 </a:t>
            </a:r>
            <a:r>
              <a:rPr lang="en-US" sz="1400" u="none" dirty="0" err="1">
                <a:solidFill>
                  <a:srgbClr val="FFFFFF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для</a:t>
            </a:r>
            <a:r>
              <a:rPr lang="en-US" sz="1400" u="none" dirty="0">
                <a:solidFill>
                  <a:srgbClr val="FFFFFF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 </a:t>
            </a:r>
            <a:r>
              <a:rPr lang="en-US" sz="1400" u="none" dirty="0" err="1">
                <a:solidFill>
                  <a:srgbClr val="FFFFFF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управляющих</a:t>
            </a:r>
            <a:endParaRPr lang="en-US" sz="1400" u="none" dirty="0">
              <a:solidFill>
                <a:srgbClr val="FFFFFF"/>
              </a:solidFill>
              <a:latin typeface="Fira Sans Light"/>
              <a:ea typeface="Fira Sans Light"/>
              <a:cs typeface="Fira Sans Light"/>
              <a:sym typeface="Fira Sans Light"/>
            </a:endParaRPr>
          </a:p>
        </p:txBody>
      </p:sp>
      <p:sp>
        <p:nvSpPr>
          <p:cNvPr id="10" name="TextBox 18">
            <a:extLst>
              <a:ext uri="{FF2B5EF4-FFF2-40B4-BE49-F238E27FC236}">
                <a16:creationId xmlns:a16="http://schemas.microsoft.com/office/drawing/2014/main" id="{E7BF7175-76C0-4E06-B0BF-C6ADB4FFE7F0}"/>
              </a:ext>
            </a:extLst>
          </p:cNvPr>
          <p:cNvSpPr txBox="1"/>
          <p:nvPr/>
        </p:nvSpPr>
        <p:spPr>
          <a:xfrm>
            <a:off x="6499058" y="1476114"/>
            <a:ext cx="5910342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FFFFFF"/>
                </a:solidFill>
                <a:latin typeface="+mj-lt"/>
                <a:ea typeface="Fira Sans Bold"/>
                <a:cs typeface="Fira Sans Bold"/>
                <a:sym typeface="Fira Sans Bold"/>
              </a:rPr>
              <a:t>ПОЧЕМУ ВЫБИРАЮТ НАС</a:t>
            </a:r>
          </a:p>
        </p:txBody>
      </p:sp>
      <p:sp>
        <p:nvSpPr>
          <p:cNvPr id="11" name="TextBox 19">
            <a:extLst>
              <a:ext uri="{FF2B5EF4-FFF2-40B4-BE49-F238E27FC236}">
                <a16:creationId xmlns:a16="http://schemas.microsoft.com/office/drawing/2014/main" id="{D46D84E4-C0B8-47D8-AF80-8B9FB85B4A12}"/>
              </a:ext>
            </a:extLst>
          </p:cNvPr>
          <p:cNvSpPr txBox="1"/>
          <p:nvPr/>
        </p:nvSpPr>
        <p:spPr>
          <a:xfrm>
            <a:off x="7283116" y="2442176"/>
            <a:ext cx="4732250" cy="30940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 b="1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ПОЛНЫЙ ЦИКЛ "ПОД КЛЮЧ"</a:t>
            </a:r>
          </a:p>
          <a:p>
            <a:pPr marL="342900" indent="-342900" algn="ctr">
              <a:lnSpc>
                <a:spcPts val="266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ru-RU" sz="1900" dirty="0">
                <a:solidFill>
                  <a:srgbClr val="FFFFFF"/>
                </a:solidFill>
                <a:ea typeface="Fira Sans"/>
                <a:cs typeface="Fira Sans"/>
                <a:sym typeface="Fira Sans"/>
              </a:rPr>
              <a:t>Первое российское решение от камеры до аналитики</a:t>
            </a:r>
          </a:p>
          <a:p>
            <a:pPr marL="342900" indent="-342900" algn="ctr">
              <a:lnSpc>
                <a:spcPts val="266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ru-RU" sz="1900" dirty="0">
                <a:solidFill>
                  <a:srgbClr val="FFFFFF"/>
                </a:solidFill>
                <a:ea typeface="Fira Sans"/>
                <a:cs typeface="Fira Sans"/>
                <a:sym typeface="Fira Sans"/>
              </a:rPr>
              <a:t>Подписка вместо миллионов</a:t>
            </a:r>
          </a:p>
          <a:p>
            <a:pPr marL="342900" indent="-342900" algn="ctr">
              <a:lnSpc>
                <a:spcPts val="266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ru-RU" sz="1900" dirty="0">
                <a:solidFill>
                  <a:srgbClr val="FFFFFF"/>
                </a:solidFill>
                <a:ea typeface="Fira Sans"/>
                <a:cs typeface="Fira Sans"/>
                <a:sym typeface="Fira Sans"/>
              </a:rPr>
              <a:t>Гибкая модель для любого бюджета и масштаба</a:t>
            </a:r>
          </a:p>
          <a:p>
            <a:pPr marL="342900" indent="-342900" algn="ctr">
              <a:lnSpc>
                <a:spcPts val="266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ru-RU" sz="1900" dirty="0">
                <a:solidFill>
                  <a:srgbClr val="FFFFFF"/>
                </a:solidFill>
                <a:ea typeface="Fira Sans"/>
                <a:cs typeface="Fira Sans"/>
                <a:sym typeface="Fira Sans"/>
              </a:rPr>
              <a:t>Результаты подтверждены</a:t>
            </a:r>
          </a:p>
          <a:p>
            <a:pPr marL="342900" indent="-342900" algn="ctr">
              <a:lnSpc>
                <a:spcPts val="266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ru-RU" sz="1900" dirty="0">
                <a:solidFill>
                  <a:srgbClr val="FFFFFF"/>
                </a:solidFill>
                <a:ea typeface="Fira Sans"/>
                <a:cs typeface="Fira Sans"/>
                <a:sym typeface="Fira Sans"/>
              </a:rPr>
              <a:t>Очереди сокращаются на 85%, пропускная способность растет в 3 раза</a:t>
            </a:r>
            <a:endParaRPr lang="en-US" sz="1900" dirty="0">
              <a:solidFill>
                <a:srgbClr val="FFFFFF"/>
              </a:solidFill>
              <a:ea typeface="Fira Sans"/>
              <a:cs typeface="Fira Sans"/>
              <a:sym typeface="Fira Sans"/>
            </a:endParaRPr>
          </a:p>
        </p:txBody>
      </p:sp>
    </p:spTree>
    <p:extLst>
      <p:ext uri="{BB962C8B-B14F-4D97-AF65-F5344CB8AC3E}">
        <p14:creationId xmlns:p14="http://schemas.microsoft.com/office/powerpoint/2010/main" val="19156107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28F128-4647-4CBC-A92F-3FC964EB5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7200" dirty="0"/>
              <a:t>Функционал </a:t>
            </a:r>
            <a:r>
              <a:rPr lang="en-US" sz="7200" dirty="0"/>
              <a:t>MVP</a:t>
            </a:r>
            <a:endParaRPr lang="ru-RU" sz="7200" dirty="0"/>
          </a:p>
        </p:txBody>
      </p:sp>
      <p:sp>
        <p:nvSpPr>
          <p:cNvPr id="4" name="TextBox 17">
            <a:extLst>
              <a:ext uri="{FF2B5EF4-FFF2-40B4-BE49-F238E27FC236}">
                <a16:creationId xmlns:a16="http://schemas.microsoft.com/office/drawing/2014/main" id="{B73CC5C5-B30F-4998-9491-9CBFAAAFDCBB}"/>
              </a:ext>
            </a:extLst>
          </p:cNvPr>
          <p:cNvSpPr txBox="1"/>
          <p:nvPr/>
        </p:nvSpPr>
        <p:spPr>
          <a:xfrm>
            <a:off x="685801" y="2418793"/>
            <a:ext cx="8474241" cy="36606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- </a:t>
            </a:r>
            <a:r>
              <a:rPr lang="en-US" sz="2800" b="1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ПО </a:t>
            </a:r>
            <a:r>
              <a:rPr lang="en-US" sz="2800" b="1" dirty="0" err="1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для</a:t>
            </a:r>
            <a:r>
              <a:rPr lang="en-US" sz="2800" b="1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 </a:t>
            </a:r>
            <a:r>
              <a:rPr lang="en-US" sz="2800" b="1" dirty="0" err="1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камер</a:t>
            </a:r>
            <a:r>
              <a:rPr lang="en-US" sz="2800" b="1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 </a:t>
            </a:r>
            <a:r>
              <a:rPr lang="en-US" sz="2800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- </a:t>
            </a:r>
            <a:r>
              <a:rPr lang="en-US" sz="2800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алгоритмы</a:t>
            </a:r>
            <a:r>
              <a:rPr lang="en-US" sz="2800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</a:t>
            </a:r>
            <a:r>
              <a:rPr lang="en-US" sz="2800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компьютерного</a:t>
            </a:r>
            <a:r>
              <a:rPr lang="en-US" sz="2800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</a:t>
            </a:r>
            <a:r>
              <a:rPr lang="en-US" sz="2800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зрения</a:t>
            </a:r>
            <a:r>
              <a:rPr lang="en-US" sz="2800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</a:t>
            </a:r>
            <a:r>
              <a:rPr lang="en-US" sz="2800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для</a:t>
            </a:r>
            <a:r>
              <a:rPr lang="en-US" sz="2800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</a:t>
            </a:r>
            <a:r>
              <a:rPr lang="en-US" sz="2800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распознавания</a:t>
            </a:r>
            <a:r>
              <a:rPr lang="en-US" sz="2800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</a:t>
            </a:r>
            <a:r>
              <a:rPr lang="en-US" sz="2800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номеров</a:t>
            </a:r>
            <a:endParaRPr lang="en-US" sz="2800" dirty="0">
              <a:solidFill>
                <a:srgbClr val="FFFFFF"/>
              </a:solidFill>
              <a:ea typeface="Fira Sans Light"/>
              <a:cs typeface="Fira Sans Light"/>
              <a:sym typeface="Fira Sans Light"/>
            </a:endParaRPr>
          </a:p>
          <a:p>
            <a:pPr algn="l">
              <a:lnSpc>
                <a:spcPts val="4215"/>
              </a:lnSpc>
              <a:spcBef>
                <a:spcPct val="0"/>
              </a:spcBef>
            </a:pPr>
            <a:r>
              <a:rPr lang="en-US" sz="2800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- </a:t>
            </a:r>
            <a:r>
              <a:rPr lang="en-US" sz="2800" b="1" dirty="0" err="1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Админ-панель</a:t>
            </a:r>
            <a:r>
              <a:rPr lang="en-US" sz="2800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- </a:t>
            </a:r>
            <a:r>
              <a:rPr lang="en-US" sz="2800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управление</a:t>
            </a:r>
            <a:r>
              <a:rPr lang="en-US" sz="2800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</a:t>
            </a:r>
            <a:r>
              <a:rPr lang="en-US" sz="2800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заявками</a:t>
            </a:r>
            <a:r>
              <a:rPr lang="en-US" sz="2800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, </a:t>
            </a:r>
            <a:r>
              <a:rPr lang="en-US" sz="2800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мониторинг</a:t>
            </a:r>
            <a:r>
              <a:rPr lang="en-US" sz="2800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</a:t>
            </a:r>
            <a:r>
              <a:rPr lang="en-US" sz="2800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въездов</a:t>
            </a:r>
            <a:r>
              <a:rPr lang="en-US" sz="2800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\</a:t>
            </a:r>
            <a:r>
              <a:rPr lang="en-US" sz="2800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выездов</a:t>
            </a:r>
            <a:r>
              <a:rPr lang="en-US" sz="2800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, </a:t>
            </a:r>
            <a:r>
              <a:rPr lang="en-US" sz="2800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аналитика</a:t>
            </a:r>
            <a:r>
              <a:rPr lang="en-US" sz="2800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</a:t>
            </a:r>
            <a:r>
              <a:rPr lang="en-US" sz="2800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трафика</a:t>
            </a:r>
            <a:endParaRPr lang="en-US" sz="2800" dirty="0">
              <a:solidFill>
                <a:srgbClr val="FFFFFF"/>
              </a:solidFill>
              <a:ea typeface="Fira Sans Light"/>
              <a:cs typeface="Fira Sans Light"/>
              <a:sym typeface="Fira Sans Light"/>
            </a:endParaRPr>
          </a:p>
          <a:p>
            <a:pPr algn="l">
              <a:lnSpc>
                <a:spcPts val="4215"/>
              </a:lnSpc>
              <a:spcBef>
                <a:spcPct val="0"/>
              </a:spcBef>
            </a:pPr>
            <a:r>
              <a:rPr lang="en-US" sz="2800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- </a:t>
            </a:r>
            <a:r>
              <a:rPr lang="en-US" sz="2800" b="1" dirty="0" err="1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Мобильное</a:t>
            </a:r>
            <a:r>
              <a:rPr lang="en-US" sz="2800" b="1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 </a:t>
            </a:r>
            <a:r>
              <a:rPr lang="en-US" sz="2800" b="1" dirty="0" err="1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приложение</a:t>
            </a:r>
            <a:r>
              <a:rPr lang="en-US" sz="2800" b="1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 </a:t>
            </a:r>
            <a:r>
              <a:rPr lang="en-US" sz="2800" b="1" dirty="0" err="1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пользователя</a:t>
            </a:r>
            <a:r>
              <a:rPr lang="en-US" sz="2800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- </a:t>
            </a:r>
            <a:r>
              <a:rPr lang="en-US" sz="2800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подача</a:t>
            </a:r>
            <a:r>
              <a:rPr lang="en-US" sz="2800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</a:t>
            </a:r>
            <a:r>
              <a:rPr lang="en-US" sz="2800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заявок</a:t>
            </a:r>
            <a:r>
              <a:rPr lang="en-US" sz="2800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</a:t>
            </a:r>
            <a:r>
              <a:rPr lang="en-US" sz="2800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на</a:t>
            </a:r>
            <a:r>
              <a:rPr lang="en-US" sz="2800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</a:t>
            </a:r>
            <a:r>
              <a:rPr lang="en-US" sz="2800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проезд</a:t>
            </a:r>
            <a:r>
              <a:rPr lang="en-US" sz="2800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, </a:t>
            </a:r>
            <a:r>
              <a:rPr lang="en-US" sz="2800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уведомления</a:t>
            </a:r>
            <a:r>
              <a:rPr lang="en-US" sz="2800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, </a:t>
            </a:r>
            <a:r>
              <a:rPr lang="en-US" sz="2800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личная</a:t>
            </a:r>
            <a:r>
              <a:rPr lang="en-US" sz="2800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</a:t>
            </a:r>
            <a:r>
              <a:rPr lang="en-US" sz="2800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история</a:t>
            </a:r>
            <a:r>
              <a:rPr lang="en-US" sz="2800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</a:t>
            </a:r>
            <a:r>
              <a:rPr lang="en-US" sz="2800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въездов</a:t>
            </a:r>
            <a:endParaRPr lang="en-US" sz="2800" dirty="0">
              <a:solidFill>
                <a:srgbClr val="FFFFFF"/>
              </a:solidFill>
              <a:ea typeface="Fira Sans Light"/>
              <a:cs typeface="Fira Sans Light"/>
              <a:sym typeface="Fira Sans Light"/>
            </a:endParaRPr>
          </a:p>
        </p:txBody>
      </p:sp>
    </p:spTree>
    <p:extLst>
      <p:ext uri="{BB962C8B-B14F-4D97-AF65-F5344CB8AC3E}">
        <p14:creationId xmlns:p14="http://schemas.microsoft.com/office/powerpoint/2010/main" val="35939919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D03EB7-5E9E-4D63-9280-2E8475D89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7200" dirty="0"/>
              <a:t>Подтверждение рынка</a:t>
            </a:r>
          </a:p>
        </p:txBody>
      </p:sp>
      <p:sp>
        <p:nvSpPr>
          <p:cNvPr id="4" name="Freeform 8">
            <a:extLst>
              <a:ext uri="{FF2B5EF4-FFF2-40B4-BE49-F238E27FC236}">
                <a16:creationId xmlns:a16="http://schemas.microsoft.com/office/drawing/2014/main" id="{DCDB0E42-3AFE-4951-B227-490EAA2E7987}"/>
              </a:ext>
            </a:extLst>
          </p:cNvPr>
          <p:cNvSpPr/>
          <p:nvPr/>
        </p:nvSpPr>
        <p:spPr>
          <a:xfrm>
            <a:off x="685801" y="2395222"/>
            <a:ext cx="2576325" cy="867406"/>
          </a:xfrm>
          <a:custGeom>
            <a:avLst/>
            <a:gdLst/>
            <a:ahLst/>
            <a:cxnLst/>
            <a:rect l="l" t="t" r="r" b="b"/>
            <a:pathLst>
              <a:path w="2576325" h="867406">
                <a:moveTo>
                  <a:pt x="0" y="0"/>
                </a:moveTo>
                <a:lnTo>
                  <a:pt x="2576325" y="0"/>
                </a:lnTo>
                <a:lnTo>
                  <a:pt x="2576325" y="867406"/>
                </a:lnTo>
                <a:lnTo>
                  <a:pt x="0" y="8674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ru-RU" sz="1600" dirty="0">
              <a:latin typeface="+mj-lt"/>
            </a:endParaRPr>
          </a:p>
        </p:txBody>
      </p:sp>
      <p:sp>
        <p:nvSpPr>
          <p:cNvPr id="5" name="TextBox 11">
            <a:extLst>
              <a:ext uri="{FF2B5EF4-FFF2-40B4-BE49-F238E27FC236}">
                <a16:creationId xmlns:a16="http://schemas.microsoft.com/office/drawing/2014/main" id="{53730501-C217-408B-8797-8BC5D10B16FF}"/>
              </a:ext>
            </a:extLst>
          </p:cNvPr>
          <p:cNvSpPr txBox="1"/>
          <p:nvPr/>
        </p:nvSpPr>
        <p:spPr>
          <a:xfrm>
            <a:off x="685801" y="3262628"/>
            <a:ext cx="4893558" cy="3062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84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TACC: </a:t>
            </a:r>
            <a:r>
              <a:rPr lang="en-US" sz="2400" dirty="0">
                <a:solidFill>
                  <a:srgbClr val="FFFFFF"/>
                </a:solidFill>
                <a:ea typeface="Fira Sans"/>
                <a:cs typeface="Fira Sans"/>
                <a:sym typeface="Fira Sans"/>
              </a:rPr>
              <a:t>В МОСКВЕ ЧИСЛО ПЛАТНЫХ МЕСТ ДЛЯ ПАРКОВКИ ПРИБЛИЗИЛОСЬ К 95 ТЫС</a:t>
            </a:r>
          </a:p>
          <a:p>
            <a:pPr algn="l">
              <a:lnSpc>
                <a:spcPts val="2984"/>
              </a:lnSpc>
              <a:spcBef>
                <a:spcPct val="0"/>
              </a:spcBef>
            </a:pPr>
            <a:endParaRPr lang="en-US" sz="2400" dirty="0">
              <a:solidFill>
                <a:srgbClr val="FFFFFF"/>
              </a:solidFill>
              <a:ea typeface="Fira Sans"/>
              <a:cs typeface="Fira Sans"/>
              <a:sym typeface="Fira Sans"/>
            </a:endParaRPr>
          </a:p>
          <a:p>
            <a:pPr algn="l">
              <a:lnSpc>
                <a:spcPts val="2984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ИССЛЕДОВАНИЕ ВШЭ "ПАРКОВКА В МОСКВЕ:</a:t>
            </a:r>
            <a:r>
              <a:rPr lang="en-US" sz="2400" dirty="0">
                <a:solidFill>
                  <a:srgbClr val="FFFFFF"/>
                </a:solidFill>
                <a:ea typeface="Fira Sans"/>
                <a:cs typeface="Fira Sans"/>
                <a:sym typeface="Fira Sans"/>
              </a:rPr>
              <a:t> ПОВЕДЕНИЕ АВТОМОБИЛИСТОВ И ПОТЕНЦИАЛ РЕГУЛИРОВАНИЯ", 2021 ГОД</a:t>
            </a:r>
          </a:p>
        </p:txBody>
      </p:sp>
      <p:sp>
        <p:nvSpPr>
          <p:cNvPr id="6" name="Freeform 9">
            <a:extLst>
              <a:ext uri="{FF2B5EF4-FFF2-40B4-BE49-F238E27FC236}">
                <a16:creationId xmlns:a16="http://schemas.microsoft.com/office/drawing/2014/main" id="{0BCA72A3-8D07-4ED6-A6C2-A2CD34E94826}"/>
              </a:ext>
            </a:extLst>
          </p:cNvPr>
          <p:cNvSpPr/>
          <p:nvPr/>
        </p:nvSpPr>
        <p:spPr>
          <a:xfrm>
            <a:off x="5513769" y="3637601"/>
            <a:ext cx="1531147" cy="1531147"/>
          </a:xfrm>
          <a:custGeom>
            <a:avLst/>
            <a:gdLst/>
            <a:ahLst/>
            <a:cxnLst/>
            <a:rect l="l" t="t" r="r" b="b"/>
            <a:pathLst>
              <a:path w="2413731" h="2413731">
                <a:moveTo>
                  <a:pt x="0" y="0"/>
                </a:moveTo>
                <a:lnTo>
                  <a:pt x="2413731" y="0"/>
                </a:lnTo>
                <a:lnTo>
                  <a:pt x="2413731" y="2413731"/>
                </a:lnTo>
                <a:lnTo>
                  <a:pt x="0" y="24137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rnd">
            <a:noFill/>
            <a:prstDash val="solid"/>
            <a:round/>
          </a:ln>
        </p:spPr>
        <p:txBody>
          <a:bodyPr anchor="ctr"/>
          <a:lstStyle/>
          <a:p>
            <a:pPr algn="ctr"/>
            <a:r>
              <a:rPr lang="ru-RU" sz="6000" dirty="0"/>
              <a:t>23</a:t>
            </a:r>
          </a:p>
        </p:txBody>
      </p:sp>
      <p:sp>
        <p:nvSpPr>
          <p:cNvPr id="8" name="TextBox 17">
            <a:extLst>
              <a:ext uri="{FF2B5EF4-FFF2-40B4-BE49-F238E27FC236}">
                <a16:creationId xmlns:a16="http://schemas.microsoft.com/office/drawing/2014/main" id="{CE11C150-AF87-4E84-B9E3-0379A1BBB7E8}"/>
              </a:ext>
            </a:extLst>
          </p:cNvPr>
          <p:cNvSpPr txBox="1"/>
          <p:nvPr/>
        </p:nvSpPr>
        <p:spPr>
          <a:xfrm>
            <a:off x="5497438" y="5137770"/>
            <a:ext cx="1759531" cy="12181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40"/>
              </a:lnSpc>
              <a:spcBef>
                <a:spcPct val="0"/>
              </a:spcBef>
            </a:pPr>
            <a:r>
              <a:rPr lang="en-US" sz="1400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ВОДИТЕЛЕЙ ТРАТЯТ НА ПОИСК ПАРКОВКИ БОЛЕЕ 20 МИНУТ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575E25-3ABC-4BEB-9D37-8AC06397BAF5}"/>
              </a:ext>
            </a:extLst>
          </p:cNvPr>
          <p:cNvSpPr txBox="1"/>
          <p:nvPr/>
        </p:nvSpPr>
        <p:spPr>
          <a:xfrm>
            <a:off x="6910626" y="4309465"/>
            <a:ext cx="72189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/>
              <a:t>%</a:t>
            </a:r>
            <a:endParaRPr lang="ru-RU" sz="6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38F9CB7-6B9F-40A4-948C-0958C94240AE}"/>
              </a:ext>
            </a:extLst>
          </p:cNvPr>
          <p:cNvSpPr txBox="1"/>
          <p:nvPr/>
        </p:nvSpPr>
        <p:spPr>
          <a:xfrm>
            <a:off x="9069259" y="3597811"/>
            <a:ext cx="72189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/>
              <a:t>%</a:t>
            </a:r>
            <a:endParaRPr lang="ru-RU" sz="6000" dirty="0"/>
          </a:p>
        </p:txBody>
      </p:sp>
      <p:sp>
        <p:nvSpPr>
          <p:cNvPr id="16" name="TextBox 17">
            <a:extLst>
              <a:ext uri="{FF2B5EF4-FFF2-40B4-BE49-F238E27FC236}">
                <a16:creationId xmlns:a16="http://schemas.microsoft.com/office/drawing/2014/main" id="{C9D398EE-4D32-466E-866A-45967D43A7AE}"/>
              </a:ext>
            </a:extLst>
          </p:cNvPr>
          <p:cNvSpPr txBox="1"/>
          <p:nvPr/>
        </p:nvSpPr>
        <p:spPr>
          <a:xfrm>
            <a:off x="7534374" y="4421201"/>
            <a:ext cx="1944336" cy="20577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40"/>
              </a:lnSpc>
              <a:spcBef>
                <a:spcPct val="0"/>
              </a:spcBef>
            </a:pPr>
            <a:r>
              <a:rPr lang="en-US" sz="1400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ГРАЖДАН БЕСПОКОИТ ДОСТУП ПОСТОРОННИХ ЛЮДЕЙ И ПАРКОВКИ ВНЕ СПЕЦИАЛЬНО ОТВЕДЕННЫХ МЕСТ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4922616-AB8B-42F0-8C6D-5FBDA56FA236}"/>
              </a:ext>
            </a:extLst>
          </p:cNvPr>
          <p:cNvSpPr txBox="1"/>
          <p:nvPr/>
        </p:nvSpPr>
        <p:spPr>
          <a:xfrm>
            <a:off x="11197815" y="3347612"/>
            <a:ext cx="946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млрд рублей</a:t>
            </a:r>
          </a:p>
        </p:txBody>
      </p:sp>
      <p:sp>
        <p:nvSpPr>
          <p:cNvPr id="19" name="TextBox 17">
            <a:extLst>
              <a:ext uri="{FF2B5EF4-FFF2-40B4-BE49-F238E27FC236}">
                <a16:creationId xmlns:a16="http://schemas.microsoft.com/office/drawing/2014/main" id="{603DD840-A60D-4FE8-BDE1-05ED18C14F16}"/>
              </a:ext>
            </a:extLst>
          </p:cNvPr>
          <p:cNvSpPr txBox="1"/>
          <p:nvPr/>
        </p:nvSpPr>
        <p:spPr>
          <a:xfrm>
            <a:off x="9712410" y="3849564"/>
            <a:ext cx="1827617" cy="20577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40"/>
              </a:lnSpc>
              <a:spcBef>
                <a:spcPct val="0"/>
              </a:spcBef>
            </a:pPr>
            <a:r>
              <a:rPr lang="en-US" sz="1400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ПОТЕРИ ОТ НЕКОНТРОЛИРУЕМОГО ПРОЕЗДА И НЕЛЕГАЛЬНЫХ ПАРКОВОК</a:t>
            </a:r>
          </a:p>
        </p:txBody>
      </p:sp>
      <p:sp>
        <p:nvSpPr>
          <p:cNvPr id="21" name="Freeform 9">
            <a:extLst>
              <a:ext uri="{FF2B5EF4-FFF2-40B4-BE49-F238E27FC236}">
                <a16:creationId xmlns:a16="http://schemas.microsoft.com/office/drawing/2014/main" id="{358B1246-7C8F-407E-BEE7-BB56A67BB37F}"/>
              </a:ext>
            </a:extLst>
          </p:cNvPr>
          <p:cNvSpPr/>
          <p:nvPr/>
        </p:nvSpPr>
        <p:spPr>
          <a:xfrm>
            <a:off x="7680382" y="2872027"/>
            <a:ext cx="1531147" cy="1531147"/>
          </a:xfrm>
          <a:custGeom>
            <a:avLst/>
            <a:gdLst/>
            <a:ahLst/>
            <a:cxnLst/>
            <a:rect l="l" t="t" r="r" b="b"/>
            <a:pathLst>
              <a:path w="2413731" h="2413731">
                <a:moveTo>
                  <a:pt x="0" y="0"/>
                </a:moveTo>
                <a:lnTo>
                  <a:pt x="2413731" y="0"/>
                </a:lnTo>
                <a:lnTo>
                  <a:pt x="2413731" y="2413731"/>
                </a:lnTo>
                <a:lnTo>
                  <a:pt x="0" y="24137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rnd">
            <a:noFill/>
            <a:prstDash val="solid"/>
            <a:round/>
          </a:ln>
        </p:spPr>
        <p:txBody>
          <a:bodyPr anchor="ctr"/>
          <a:lstStyle/>
          <a:p>
            <a:pPr algn="ctr"/>
            <a:r>
              <a:rPr lang="ru-RU" sz="6000" dirty="0"/>
              <a:t>26</a:t>
            </a:r>
          </a:p>
        </p:txBody>
      </p:sp>
      <p:sp>
        <p:nvSpPr>
          <p:cNvPr id="22" name="Freeform 9">
            <a:extLst>
              <a:ext uri="{FF2B5EF4-FFF2-40B4-BE49-F238E27FC236}">
                <a16:creationId xmlns:a16="http://schemas.microsoft.com/office/drawing/2014/main" id="{59A37AD6-8CE9-4980-B1C3-1E76DF811CF6}"/>
              </a:ext>
            </a:extLst>
          </p:cNvPr>
          <p:cNvSpPr/>
          <p:nvPr/>
        </p:nvSpPr>
        <p:spPr>
          <a:xfrm>
            <a:off x="9846995" y="2318417"/>
            <a:ext cx="1531147" cy="1531147"/>
          </a:xfrm>
          <a:custGeom>
            <a:avLst/>
            <a:gdLst/>
            <a:ahLst/>
            <a:cxnLst/>
            <a:rect l="l" t="t" r="r" b="b"/>
            <a:pathLst>
              <a:path w="2413731" h="2413731">
                <a:moveTo>
                  <a:pt x="0" y="0"/>
                </a:moveTo>
                <a:lnTo>
                  <a:pt x="2413731" y="0"/>
                </a:lnTo>
                <a:lnTo>
                  <a:pt x="2413731" y="2413731"/>
                </a:lnTo>
                <a:lnTo>
                  <a:pt x="0" y="24137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rnd">
            <a:noFill/>
            <a:prstDash val="solid"/>
            <a:round/>
          </a:ln>
        </p:spPr>
        <p:txBody>
          <a:bodyPr anchor="ctr"/>
          <a:lstStyle/>
          <a:p>
            <a:pPr algn="ctr"/>
            <a:r>
              <a:rPr lang="ru-RU" sz="6000" dirty="0"/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1688521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E057CD-7FAF-434F-B015-3E87FC52E3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0"/>
            <a:ext cx="6419849" cy="1456267"/>
          </a:xfrm>
        </p:spPr>
        <p:txBody>
          <a:bodyPr>
            <a:normAutofit/>
          </a:bodyPr>
          <a:lstStyle/>
          <a:p>
            <a:r>
              <a:rPr lang="ru-RU" sz="7200" dirty="0"/>
              <a:t>Размер рынка</a:t>
            </a:r>
          </a:p>
        </p:txBody>
      </p:sp>
      <p:sp>
        <p:nvSpPr>
          <p:cNvPr id="4" name="Freeform 9">
            <a:extLst>
              <a:ext uri="{FF2B5EF4-FFF2-40B4-BE49-F238E27FC236}">
                <a16:creationId xmlns:a16="http://schemas.microsoft.com/office/drawing/2014/main" id="{E279F0F2-36D3-46E0-A1B6-1084D34E5A74}"/>
              </a:ext>
            </a:extLst>
          </p:cNvPr>
          <p:cNvSpPr/>
          <p:nvPr/>
        </p:nvSpPr>
        <p:spPr>
          <a:xfrm>
            <a:off x="1398969" y="2663426"/>
            <a:ext cx="1531147" cy="1531147"/>
          </a:xfrm>
          <a:custGeom>
            <a:avLst/>
            <a:gdLst/>
            <a:ahLst/>
            <a:cxnLst/>
            <a:rect l="l" t="t" r="r" b="b"/>
            <a:pathLst>
              <a:path w="2413731" h="2413731">
                <a:moveTo>
                  <a:pt x="0" y="0"/>
                </a:moveTo>
                <a:lnTo>
                  <a:pt x="2413731" y="0"/>
                </a:lnTo>
                <a:lnTo>
                  <a:pt x="2413731" y="2413731"/>
                </a:lnTo>
                <a:lnTo>
                  <a:pt x="0" y="24137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rnd">
            <a:noFill/>
            <a:prstDash val="solid"/>
            <a:round/>
          </a:ln>
        </p:spPr>
        <p:txBody>
          <a:bodyPr anchor="ctr"/>
          <a:lstStyle/>
          <a:p>
            <a:pPr algn="ctr"/>
            <a:r>
              <a:rPr lang="ru-RU" sz="6000" dirty="0"/>
              <a:t>5+</a:t>
            </a:r>
          </a:p>
        </p:txBody>
      </p:sp>
      <p:sp>
        <p:nvSpPr>
          <p:cNvPr id="5" name="Freeform 9">
            <a:extLst>
              <a:ext uri="{FF2B5EF4-FFF2-40B4-BE49-F238E27FC236}">
                <a16:creationId xmlns:a16="http://schemas.microsoft.com/office/drawing/2014/main" id="{06041ED9-641D-461F-AE82-AC3D422E4337}"/>
              </a:ext>
            </a:extLst>
          </p:cNvPr>
          <p:cNvSpPr/>
          <p:nvPr/>
        </p:nvSpPr>
        <p:spPr>
          <a:xfrm>
            <a:off x="4564853" y="2065867"/>
            <a:ext cx="1531147" cy="1531147"/>
          </a:xfrm>
          <a:custGeom>
            <a:avLst/>
            <a:gdLst/>
            <a:ahLst/>
            <a:cxnLst/>
            <a:rect l="l" t="t" r="r" b="b"/>
            <a:pathLst>
              <a:path w="2413731" h="2413731">
                <a:moveTo>
                  <a:pt x="0" y="0"/>
                </a:moveTo>
                <a:lnTo>
                  <a:pt x="2413731" y="0"/>
                </a:lnTo>
                <a:lnTo>
                  <a:pt x="2413731" y="2413731"/>
                </a:lnTo>
                <a:lnTo>
                  <a:pt x="0" y="24137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rnd">
            <a:noFill/>
            <a:prstDash val="solid"/>
            <a:round/>
          </a:ln>
        </p:spPr>
        <p:txBody>
          <a:bodyPr anchor="ctr"/>
          <a:lstStyle/>
          <a:p>
            <a:pPr algn="ctr"/>
            <a:r>
              <a:rPr lang="ru-RU" sz="6000" dirty="0"/>
              <a:t>120</a:t>
            </a:r>
          </a:p>
        </p:txBody>
      </p:sp>
      <p:sp>
        <p:nvSpPr>
          <p:cNvPr id="6" name="Freeform 9">
            <a:extLst>
              <a:ext uri="{FF2B5EF4-FFF2-40B4-BE49-F238E27FC236}">
                <a16:creationId xmlns:a16="http://schemas.microsoft.com/office/drawing/2014/main" id="{C3FE55BD-A6CD-498B-AE35-4682ED70EC2E}"/>
              </a:ext>
            </a:extLst>
          </p:cNvPr>
          <p:cNvSpPr/>
          <p:nvPr/>
        </p:nvSpPr>
        <p:spPr>
          <a:xfrm>
            <a:off x="7498553" y="1627717"/>
            <a:ext cx="1531147" cy="1531147"/>
          </a:xfrm>
          <a:custGeom>
            <a:avLst/>
            <a:gdLst/>
            <a:ahLst/>
            <a:cxnLst/>
            <a:rect l="l" t="t" r="r" b="b"/>
            <a:pathLst>
              <a:path w="2413731" h="2413731">
                <a:moveTo>
                  <a:pt x="0" y="0"/>
                </a:moveTo>
                <a:lnTo>
                  <a:pt x="2413731" y="0"/>
                </a:lnTo>
                <a:lnTo>
                  <a:pt x="2413731" y="2413731"/>
                </a:lnTo>
                <a:lnTo>
                  <a:pt x="0" y="24137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rnd">
            <a:noFill/>
            <a:prstDash val="solid"/>
            <a:round/>
          </a:ln>
        </p:spPr>
        <p:txBody>
          <a:bodyPr anchor="ctr"/>
          <a:lstStyle/>
          <a:p>
            <a:pPr algn="ctr"/>
            <a:r>
              <a:rPr lang="ru-RU" sz="6000" dirty="0"/>
              <a:t>12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8853CD-03EB-4100-98B2-2988B8398428}"/>
              </a:ext>
            </a:extLst>
          </p:cNvPr>
          <p:cNvSpPr txBox="1"/>
          <p:nvPr/>
        </p:nvSpPr>
        <p:spPr>
          <a:xfrm>
            <a:off x="2850740" y="3667315"/>
            <a:ext cx="104498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/>
              <a:t>млрд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426EA8A-3246-43A4-83DF-491EE52D72E9}"/>
              </a:ext>
            </a:extLst>
          </p:cNvPr>
          <p:cNvSpPr txBox="1"/>
          <p:nvPr/>
        </p:nvSpPr>
        <p:spPr>
          <a:xfrm>
            <a:off x="9029700" y="2600607"/>
            <a:ext cx="104498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/>
              <a:t>млн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B40CB4C-7F60-4686-8FAB-78315C85BBB9}"/>
              </a:ext>
            </a:extLst>
          </p:cNvPr>
          <p:cNvSpPr txBox="1"/>
          <p:nvPr/>
        </p:nvSpPr>
        <p:spPr>
          <a:xfrm>
            <a:off x="6046184" y="2967334"/>
            <a:ext cx="104498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/>
              <a:t>млн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5943D72-DACA-4585-B610-52AFCB7159C1}"/>
              </a:ext>
            </a:extLst>
          </p:cNvPr>
          <p:cNvSpPr txBox="1"/>
          <p:nvPr/>
        </p:nvSpPr>
        <p:spPr>
          <a:xfrm>
            <a:off x="297642" y="4210846"/>
            <a:ext cx="3733799" cy="242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060"/>
              </a:lnSpc>
              <a:spcBef>
                <a:spcPct val="0"/>
              </a:spcBef>
            </a:pPr>
            <a:r>
              <a:rPr lang="en-US" sz="1400" dirty="0">
                <a:solidFill>
                  <a:srgbClr val="FFFFFF"/>
                </a:solidFill>
                <a:ea typeface="Fira Sans"/>
                <a:cs typeface="Fira Sans"/>
                <a:sym typeface="Fira Sans"/>
              </a:rPr>
              <a:t>РАСЧЕТ ОСНОВАН НА ДОЛЕ ПО (5-7%) </a:t>
            </a:r>
          </a:p>
          <a:p>
            <a:pPr algn="ctr">
              <a:lnSpc>
                <a:spcPts val="3060"/>
              </a:lnSpc>
              <a:spcBef>
                <a:spcPct val="0"/>
              </a:spcBef>
            </a:pPr>
            <a:r>
              <a:rPr lang="en-US" sz="1400" dirty="0">
                <a:solidFill>
                  <a:srgbClr val="FFFFFF"/>
                </a:solidFill>
                <a:ea typeface="Fira Sans"/>
                <a:cs typeface="Fira Sans"/>
                <a:sym typeface="Fira Sans"/>
              </a:rPr>
              <a:t>ОТ ОБЩЕГО РЫНКА СКУД И ВИДЕОНАБЛЮДЕНИЯ </a:t>
            </a:r>
          </a:p>
          <a:p>
            <a:pPr algn="ctr">
              <a:lnSpc>
                <a:spcPts val="3060"/>
              </a:lnSpc>
              <a:spcBef>
                <a:spcPct val="0"/>
              </a:spcBef>
            </a:pPr>
            <a:r>
              <a:rPr lang="en-US" sz="1400" dirty="0">
                <a:solidFill>
                  <a:srgbClr val="FFFFFF"/>
                </a:solidFill>
                <a:ea typeface="Fira Sans"/>
                <a:cs typeface="Fira Sans"/>
                <a:sym typeface="Fira Sans"/>
              </a:rPr>
              <a:t>(~70 МЛРД РУБ, ДАННЫЕ INFOLINE ANALYTICS). </a:t>
            </a:r>
          </a:p>
          <a:p>
            <a:pPr algn="ctr">
              <a:lnSpc>
                <a:spcPts val="3060"/>
              </a:lnSpc>
              <a:spcBef>
                <a:spcPct val="0"/>
              </a:spcBef>
            </a:pPr>
            <a:r>
              <a:rPr lang="en-US" sz="1400" dirty="0">
                <a:solidFill>
                  <a:srgbClr val="FFFFFF"/>
                </a:solidFill>
                <a:ea typeface="Fira Sans"/>
                <a:cs typeface="Fira Sans"/>
                <a:sym typeface="Fira Sans"/>
              </a:rPr>
              <a:t>С УЧЕТОМ СМЕЖНЫХ РЫНКОВ </a:t>
            </a:r>
          </a:p>
          <a:p>
            <a:pPr algn="ctr">
              <a:lnSpc>
                <a:spcPts val="3060"/>
              </a:lnSpc>
              <a:spcBef>
                <a:spcPct val="0"/>
              </a:spcBef>
            </a:pPr>
            <a:r>
              <a:rPr lang="en-US" sz="1400" dirty="0">
                <a:solidFill>
                  <a:srgbClr val="FFFFFF"/>
                </a:solidFill>
                <a:ea typeface="Fira Sans"/>
                <a:cs typeface="Fira Sans"/>
                <a:sym typeface="Fira Sans"/>
              </a:rPr>
              <a:t>(УМНЫЕ ПАРКОВКИ, АНАЛИТИКА).</a:t>
            </a:r>
          </a:p>
        </p:txBody>
      </p:sp>
      <p:sp>
        <p:nvSpPr>
          <p:cNvPr id="14" name="TextBox 16">
            <a:extLst>
              <a:ext uri="{FF2B5EF4-FFF2-40B4-BE49-F238E27FC236}">
                <a16:creationId xmlns:a16="http://schemas.microsoft.com/office/drawing/2014/main" id="{52132388-5BB4-4171-B115-EFFC4F0B6B30}"/>
              </a:ext>
            </a:extLst>
          </p:cNvPr>
          <p:cNvSpPr txBox="1"/>
          <p:nvPr/>
        </p:nvSpPr>
        <p:spPr>
          <a:xfrm>
            <a:off x="3943130" y="3667315"/>
            <a:ext cx="2774591" cy="23332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60"/>
              </a:lnSpc>
              <a:spcBef>
                <a:spcPct val="0"/>
              </a:spcBef>
            </a:pPr>
            <a:r>
              <a:rPr lang="en-US" sz="1400" dirty="0">
                <a:solidFill>
                  <a:srgbClr val="FFFFFF"/>
                </a:solidFill>
                <a:ea typeface="Fira Sans"/>
                <a:cs typeface="Fira Sans"/>
                <a:sym typeface="Fira Sans"/>
              </a:rPr>
              <a:t>ПОТЕНЦИАЛ ОСНОВАН НА ПОДПИСКЕ ДЛЯ НОВЫХ ЖК (500+ ОБЪЕКТОВ/ГОД, ДАННЫЕ ЦИАН) И КОММЕРЧЕСКИХ ПАРКОВОК. ПРИ СТОИМОСТИ ПОДПИСКИ 10 ТЫС. РУБ./МЕС ЗА КПП.</a:t>
            </a:r>
          </a:p>
        </p:txBody>
      </p:sp>
      <p:sp>
        <p:nvSpPr>
          <p:cNvPr id="15" name="TextBox 17">
            <a:extLst>
              <a:ext uri="{FF2B5EF4-FFF2-40B4-BE49-F238E27FC236}">
                <a16:creationId xmlns:a16="http://schemas.microsoft.com/office/drawing/2014/main" id="{7DE41CED-F2C9-4559-AC9C-4BDB12980B1A}"/>
              </a:ext>
            </a:extLst>
          </p:cNvPr>
          <p:cNvSpPr txBox="1"/>
          <p:nvPr/>
        </p:nvSpPr>
        <p:spPr>
          <a:xfrm>
            <a:off x="6730896" y="3269770"/>
            <a:ext cx="3066459" cy="27308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60"/>
              </a:lnSpc>
              <a:spcBef>
                <a:spcPct val="0"/>
              </a:spcBef>
            </a:pPr>
            <a:r>
              <a:rPr lang="en-US" sz="1400" dirty="0">
                <a:solidFill>
                  <a:srgbClr val="FFFFFF"/>
                </a:solidFill>
                <a:ea typeface="Fira Sans"/>
                <a:cs typeface="Fira Sans"/>
                <a:sym typeface="Fira Sans"/>
              </a:rPr>
              <a:t>ЦЕЛЬ — ПОДКЛЮЧЕНИЕ 100 КПП ПО ПОДПИСКЕ (10 ТЫС. РУБ./МЕС). </a:t>
            </a:r>
          </a:p>
          <a:p>
            <a:pPr algn="ctr">
              <a:lnSpc>
                <a:spcPts val="3060"/>
              </a:lnSpc>
              <a:spcBef>
                <a:spcPct val="0"/>
              </a:spcBef>
            </a:pPr>
            <a:r>
              <a:rPr lang="en-US" sz="1400" dirty="0">
                <a:solidFill>
                  <a:srgbClr val="FFFFFF"/>
                </a:solidFill>
                <a:ea typeface="Fira Sans"/>
                <a:cs typeface="Fira Sans"/>
                <a:sym typeface="Fira Sans"/>
              </a:rPr>
              <a:t>ЭТО ДАЕТ 12 МЛН РУБ. ГОДОВОЙ ВЫРУЧКИ, ЧТО СОСТАВЛЯЕТ 10% ОТ SAM И 0.24% </a:t>
            </a:r>
          </a:p>
          <a:p>
            <a:pPr algn="ctr">
              <a:lnSpc>
                <a:spcPts val="3060"/>
              </a:lnSpc>
              <a:spcBef>
                <a:spcPct val="0"/>
              </a:spcBef>
            </a:pPr>
            <a:r>
              <a:rPr lang="en-US" sz="1400" dirty="0">
                <a:solidFill>
                  <a:srgbClr val="FFFFFF"/>
                </a:solidFill>
                <a:ea typeface="Fira Sans"/>
                <a:cs typeface="Fira Sans"/>
                <a:sym typeface="Fira Sans"/>
              </a:rPr>
              <a:t>ОТ TAM — РЕАЛИСТИЧНЫЙ ПОКАЗАТЕЛЬ ДЛЯ SAAS-СТАРТАПА.</a:t>
            </a:r>
          </a:p>
        </p:txBody>
      </p:sp>
    </p:spTree>
    <p:extLst>
      <p:ext uri="{BB962C8B-B14F-4D97-AF65-F5344CB8AC3E}">
        <p14:creationId xmlns:p14="http://schemas.microsoft.com/office/powerpoint/2010/main" val="23504897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42EA1C-F565-4B03-8474-8B0147979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0"/>
            <a:ext cx="5802085" cy="1456267"/>
          </a:xfrm>
        </p:spPr>
        <p:txBody>
          <a:bodyPr>
            <a:normAutofit/>
          </a:bodyPr>
          <a:lstStyle/>
          <a:p>
            <a:r>
              <a:rPr lang="ru-RU" sz="7200" dirty="0"/>
              <a:t>Конкуренты</a:t>
            </a:r>
          </a:p>
        </p:txBody>
      </p:sp>
      <p:graphicFrame>
        <p:nvGraphicFramePr>
          <p:cNvPr id="4" name="Table 16">
            <a:extLst>
              <a:ext uri="{FF2B5EF4-FFF2-40B4-BE49-F238E27FC236}">
                <a16:creationId xmlns:a16="http://schemas.microsoft.com/office/drawing/2014/main" id="{0418F8F4-D704-49E1-B2BC-C50CCBF2918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32444554"/>
              </p:ext>
            </p:extLst>
          </p:nvPr>
        </p:nvGraphicFramePr>
        <p:xfrm>
          <a:off x="673100" y="1909311"/>
          <a:ext cx="10833099" cy="4770290"/>
        </p:xfrm>
        <a:graphic>
          <a:graphicData uri="http://schemas.openxmlformats.org/drawingml/2006/table">
            <a:tbl>
              <a:tblPr/>
              <a:tblGrid>
                <a:gridCol w="38970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41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62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7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53788">
                <a:tc>
                  <a:txBody>
                    <a:bodyPr/>
                    <a:lstStyle/>
                    <a:p>
                      <a:pPr algn="ctr">
                        <a:lnSpc>
                          <a:spcPts val="3500"/>
                        </a:lnSpc>
                        <a:defRPr/>
                      </a:pPr>
                      <a:r>
                        <a:rPr lang="en-US" sz="1600" b="1" dirty="0" err="1">
                          <a:solidFill>
                            <a:srgbClr val="FFFFFF"/>
                          </a:solidFill>
                          <a:latin typeface="+mn-lt"/>
                          <a:ea typeface="Fira Sans Bold"/>
                          <a:cs typeface="Fira Sans Bold"/>
                          <a:sym typeface="Fira Sans Bold"/>
                        </a:rPr>
                        <a:t>Список</a:t>
                      </a: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+mn-lt"/>
                          <a:ea typeface="Fira Sans Bold"/>
                          <a:cs typeface="Fira Sans Bold"/>
                          <a:sym typeface="Fira Sans Bold"/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rgbClr val="FFFFFF"/>
                          </a:solidFill>
                          <a:latin typeface="+mn-lt"/>
                          <a:ea typeface="Fira Sans Bold"/>
                          <a:cs typeface="Fira Sans Bold"/>
                          <a:sym typeface="Fira Sans Bold"/>
                        </a:rPr>
                        <a:t>преимуществ</a:t>
                      </a:r>
                      <a:endParaRPr lang="en-US" sz="1600" dirty="0">
                        <a:latin typeface="+mn-lt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500"/>
                        </a:lnSpc>
                        <a:defRPr/>
                      </a:pPr>
                      <a:r>
                        <a:rPr lang="en-US" sz="1600" b="1" dirty="0" err="1">
                          <a:solidFill>
                            <a:srgbClr val="FFFFFF"/>
                          </a:solidFill>
                          <a:latin typeface="+mn-lt"/>
                          <a:ea typeface="Fira Sans Bold"/>
                          <a:cs typeface="Fira Sans Bold"/>
                          <a:sym typeface="Fira Sans Bold"/>
                        </a:rPr>
                        <a:t>Наша</a:t>
                      </a: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+mn-lt"/>
                          <a:ea typeface="Fira Sans Bold"/>
                          <a:cs typeface="Fira Sans Bold"/>
                          <a:sym typeface="Fira Sans Bold"/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rgbClr val="FFFFFF"/>
                          </a:solidFill>
                          <a:latin typeface="+mn-lt"/>
                          <a:ea typeface="Fira Sans Bold"/>
                          <a:cs typeface="Fira Sans Bold"/>
                          <a:sym typeface="Fira Sans Bold"/>
                        </a:rPr>
                        <a:t>компания</a:t>
                      </a:r>
                      <a:endParaRPr lang="en-US" sz="1600" dirty="0">
                        <a:latin typeface="+mn-lt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500"/>
                        </a:lnSpc>
                        <a:defRPr/>
                      </a:pPr>
                      <a:r>
                        <a:rPr lang="en-US" sz="1600" b="1" dirty="0" err="1">
                          <a:solidFill>
                            <a:srgbClr val="FFFFFF"/>
                          </a:solidFill>
                          <a:latin typeface="+mn-lt"/>
                          <a:ea typeface="Fira Sans Bold"/>
                          <a:cs typeface="Fira Sans Bold"/>
                          <a:sym typeface="Fira Sans Bold"/>
                        </a:rPr>
                        <a:t>Trassir</a:t>
                      </a:r>
                      <a:endParaRPr lang="en-US" sz="1600" dirty="0">
                        <a:latin typeface="+mn-lt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500"/>
                        </a:lnSpc>
                        <a:defRPr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+mn-lt"/>
                          <a:ea typeface="Fira Sans Bold"/>
                          <a:cs typeface="Fira Sans Bold"/>
                          <a:sym typeface="Fira Sans Bold"/>
                        </a:rPr>
                        <a:t>ПАК “АТКПП”</a:t>
                      </a:r>
                      <a:endParaRPr lang="en-US" sz="1600" dirty="0">
                        <a:latin typeface="+mn-lt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500"/>
                        </a:lnSpc>
                        <a:defRPr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+mn-lt"/>
                          <a:ea typeface="Fira Sans Bold"/>
                          <a:cs typeface="Fira Sans Bold"/>
                          <a:sym typeface="Fira Sans Bold"/>
                        </a:rPr>
                        <a:t>НПП “АММА”</a:t>
                      </a:r>
                      <a:endParaRPr lang="en-US" sz="1400" dirty="0">
                        <a:latin typeface="+mn-lt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6029">
                <a:tc>
                  <a:txBody>
                    <a:bodyPr/>
                    <a:lstStyle/>
                    <a:p>
                      <a:pPr algn="l">
                        <a:lnSpc>
                          <a:spcPts val="3500"/>
                        </a:lnSpc>
                        <a:defRPr/>
                      </a:pPr>
                      <a:r>
                        <a:rPr lang="en-US" sz="1400" dirty="0" err="1">
                          <a:solidFill>
                            <a:srgbClr val="FFFFFF"/>
                          </a:solidFill>
                          <a:latin typeface="+mn-lt"/>
                          <a:ea typeface="Fira Sans"/>
                          <a:cs typeface="Fira Sans"/>
                          <a:sym typeface="Fira Sans"/>
                        </a:rPr>
                        <a:t>Прозрачная</a:t>
                      </a:r>
                      <a:r>
                        <a:rPr lang="en-US" sz="1400" dirty="0">
                          <a:solidFill>
                            <a:srgbClr val="FFFFFF"/>
                          </a:solidFill>
                          <a:latin typeface="+mn-lt"/>
                          <a:ea typeface="Fira Sans"/>
                          <a:cs typeface="Fira Sans"/>
                          <a:sym typeface="Fira Sans"/>
                        </a:rPr>
                        <a:t> и </a:t>
                      </a:r>
                      <a:r>
                        <a:rPr lang="en-US" sz="1400" dirty="0" err="1">
                          <a:solidFill>
                            <a:srgbClr val="FFFFFF"/>
                          </a:solidFill>
                          <a:latin typeface="+mn-lt"/>
                          <a:ea typeface="Fira Sans"/>
                          <a:cs typeface="Fira Sans"/>
                          <a:sym typeface="Fira Sans"/>
                        </a:rPr>
                        <a:t>понятная</a:t>
                      </a:r>
                      <a:r>
                        <a:rPr lang="en-US" sz="1400" dirty="0">
                          <a:solidFill>
                            <a:srgbClr val="FFFFFF"/>
                          </a:solidFill>
                          <a:latin typeface="+mn-lt"/>
                          <a:ea typeface="Fira Sans"/>
                          <a:cs typeface="Fira Sans"/>
                          <a:sym typeface="Fira Sans"/>
                        </a:rPr>
                        <a:t> </a:t>
                      </a:r>
                      <a:r>
                        <a:rPr lang="en-US" sz="1400" dirty="0" err="1">
                          <a:solidFill>
                            <a:srgbClr val="FFFFFF"/>
                          </a:solidFill>
                          <a:latin typeface="+mn-lt"/>
                          <a:ea typeface="Fira Sans"/>
                          <a:cs typeface="Fira Sans"/>
                          <a:sym typeface="Fira Sans"/>
                        </a:rPr>
                        <a:t>подписка</a:t>
                      </a:r>
                      <a:r>
                        <a:rPr lang="en-US" sz="1400" dirty="0">
                          <a:solidFill>
                            <a:srgbClr val="FFFFFF"/>
                          </a:solidFill>
                          <a:latin typeface="+mn-lt"/>
                          <a:ea typeface="Fira Sans"/>
                          <a:cs typeface="Fira Sans"/>
                          <a:sym typeface="Fira Sans"/>
                        </a:rPr>
                        <a:t> с </a:t>
                      </a:r>
                      <a:r>
                        <a:rPr lang="en-US" sz="1400" dirty="0" err="1">
                          <a:solidFill>
                            <a:srgbClr val="FFFFFF"/>
                          </a:solidFill>
                          <a:latin typeface="+mn-lt"/>
                          <a:ea typeface="Fira Sans"/>
                          <a:cs typeface="Fira Sans"/>
                          <a:sym typeface="Fira Sans"/>
                        </a:rPr>
                        <a:t>предсказуемыми</a:t>
                      </a:r>
                      <a:r>
                        <a:rPr lang="en-US" sz="1400" dirty="0">
                          <a:solidFill>
                            <a:srgbClr val="FFFFFF"/>
                          </a:solidFill>
                          <a:latin typeface="+mn-lt"/>
                          <a:ea typeface="Fira Sans"/>
                          <a:cs typeface="Fira Sans"/>
                          <a:sym typeface="Fira Sans"/>
                        </a:rPr>
                        <a:t> </a:t>
                      </a:r>
                      <a:r>
                        <a:rPr lang="en-US" sz="1400" dirty="0" err="1">
                          <a:solidFill>
                            <a:srgbClr val="FFFFFF"/>
                          </a:solidFill>
                          <a:latin typeface="+mn-lt"/>
                          <a:ea typeface="Fira Sans"/>
                          <a:cs typeface="Fira Sans"/>
                          <a:sym typeface="Fira Sans"/>
                        </a:rPr>
                        <a:t>расходами</a:t>
                      </a:r>
                      <a:endParaRPr lang="en-US" sz="1400" dirty="0">
                        <a:latin typeface="+mn-lt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459"/>
                        </a:lnSpc>
                        <a:defRPr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+mn-lt"/>
                          <a:ea typeface="Fira Sans Bold"/>
                          <a:cs typeface="Fira Sans Bold"/>
                          <a:sym typeface="Fira Sans Bold"/>
                        </a:rPr>
                        <a:t>+</a:t>
                      </a:r>
                      <a:endParaRPr lang="en-US" sz="1400">
                        <a:latin typeface="+mn-lt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459"/>
                        </a:lnSpc>
                        <a:defRPr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+mn-lt"/>
                          <a:ea typeface="Fira Sans Bold"/>
                          <a:cs typeface="Fira Sans Bold"/>
                          <a:sym typeface="Fira Sans Bold"/>
                        </a:rPr>
                        <a:t>-</a:t>
                      </a:r>
                      <a:endParaRPr lang="en-US" sz="1400" dirty="0">
                        <a:latin typeface="+mn-lt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459"/>
                        </a:lnSpc>
                        <a:defRPr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+mn-lt"/>
                          <a:ea typeface="Fira Sans Bold"/>
                          <a:cs typeface="Fira Sans Bold"/>
                          <a:sym typeface="Fira Sans Bold"/>
                        </a:rPr>
                        <a:t>-</a:t>
                      </a:r>
                      <a:endParaRPr lang="en-US" sz="1400" dirty="0">
                        <a:latin typeface="+mn-lt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459"/>
                        </a:lnSpc>
                        <a:defRPr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+mn-lt"/>
                          <a:ea typeface="Fira Sans Bold"/>
                          <a:cs typeface="Fira Sans Bold"/>
                          <a:sym typeface="Fira Sans Bold"/>
                        </a:rPr>
                        <a:t>+</a:t>
                      </a:r>
                      <a:endParaRPr lang="en-US" sz="1400" dirty="0">
                        <a:latin typeface="+mn-lt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3788">
                <a:tc>
                  <a:txBody>
                    <a:bodyPr/>
                    <a:lstStyle/>
                    <a:p>
                      <a:pPr algn="l">
                        <a:lnSpc>
                          <a:spcPts val="3500"/>
                        </a:lnSpc>
                        <a:defRPr/>
                      </a:pPr>
                      <a:r>
                        <a:rPr lang="en-US" sz="1400" dirty="0" err="1">
                          <a:solidFill>
                            <a:srgbClr val="FFFFFF"/>
                          </a:solidFill>
                          <a:latin typeface="+mn-lt"/>
                          <a:ea typeface="Fira Sans"/>
                          <a:cs typeface="Fira Sans"/>
                          <a:sym typeface="Fira Sans"/>
                        </a:rPr>
                        <a:t>Удобное</a:t>
                      </a:r>
                      <a:r>
                        <a:rPr lang="en-US" sz="1400" dirty="0">
                          <a:solidFill>
                            <a:srgbClr val="FFFFFF"/>
                          </a:solidFill>
                          <a:latin typeface="+mn-lt"/>
                          <a:ea typeface="Fira Sans"/>
                          <a:cs typeface="Fira Sans"/>
                          <a:sym typeface="Fira Sans"/>
                        </a:rPr>
                        <a:t> </a:t>
                      </a:r>
                      <a:r>
                        <a:rPr lang="en-US" sz="1400" dirty="0" err="1">
                          <a:solidFill>
                            <a:srgbClr val="FFFFFF"/>
                          </a:solidFill>
                          <a:latin typeface="+mn-lt"/>
                          <a:ea typeface="Fira Sans"/>
                          <a:cs typeface="Fira Sans"/>
                          <a:sym typeface="Fira Sans"/>
                        </a:rPr>
                        <a:t>использование</a:t>
                      </a:r>
                      <a:r>
                        <a:rPr lang="en-US" sz="1400" dirty="0">
                          <a:solidFill>
                            <a:srgbClr val="FFFFFF"/>
                          </a:solidFill>
                          <a:latin typeface="+mn-lt"/>
                          <a:ea typeface="Fira Sans"/>
                          <a:cs typeface="Fira Sans"/>
                          <a:sym typeface="Fira Sans"/>
                        </a:rPr>
                        <a:t> </a:t>
                      </a:r>
                      <a:r>
                        <a:rPr lang="en-US" sz="1400" dirty="0" err="1">
                          <a:solidFill>
                            <a:srgbClr val="FFFFFF"/>
                          </a:solidFill>
                          <a:latin typeface="+mn-lt"/>
                          <a:ea typeface="Fira Sans"/>
                          <a:cs typeface="Fira Sans"/>
                          <a:sym typeface="Fira Sans"/>
                        </a:rPr>
                        <a:t>для</a:t>
                      </a:r>
                      <a:r>
                        <a:rPr lang="en-US" sz="1400" dirty="0">
                          <a:solidFill>
                            <a:srgbClr val="FFFFFF"/>
                          </a:solidFill>
                          <a:latin typeface="+mn-lt"/>
                          <a:ea typeface="Fira Sans"/>
                          <a:cs typeface="Fira Sans"/>
                          <a:sym typeface="Fira Sans"/>
                        </a:rPr>
                        <a:t> </a:t>
                      </a:r>
                      <a:r>
                        <a:rPr lang="en-US" sz="1400" dirty="0" err="1">
                          <a:solidFill>
                            <a:srgbClr val="FFFFFF"/>
                          </a:solidFill>
                          <a:latin typeface="+mn-lt"/>
                          <a:ea typeface="Fira Sans"/>
                          <a:cs typeface="Fira Sans"/>
                          <a:sym typeface="Fira Sans"/>
                        </a:rPr>
                        <a:t>пользователей</a:t>
                      </a:r>
                      <a:endParaRPr lang="en-US" sz="1400" dirty="0">
                        <a:latin typeface="+mn-lt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459"/>
                        </a:lnSpc>
                        <a:defRPr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+mn-lt"/>
                          <a:ea typeface="Fira Sans Bold"/>
                          <a:cs typeface="Fira Sans Bold"/>
                          <a:sym typeface="Fira Sans Bold"/>
                        </a:rPr>
                        <a:t>+</a:t>
                      </a:r>
                      <a:endParaRPr lang="en-US" sz="1400" dirty="0">
                        <a:latin typeface="+mn-lt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459"/>
                        </a:lnSpc>
                        <a:defRPr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+mn-lt"/>
                          <a:ea typeface="Fira Sans Bold"/>
                          <a:cs typeface="Fira Sans Bold"/>
                          <a:sym typeface="Fira Sans Bold"/>
                        </a:rPr>
                        <a:t>+</a:t>
                      </a:r>
                      <a:endParaRPr lang="en-US" sz="1400">
                        <a:latin typeface="+mn-lt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459"/>
                        </a:lnSpc>
                        <a:defRPr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+mn-lt"/>
                          <a:ea typeface="Fira Sans Bold"/>
                          <a:cs typeface="Fira Sans Bold"/>
                          <a:sym typeface="Fira Sans Bold"/>
                        </a:rPr>
                        <a:t>+</a:t>
                      </a:r>
                      <a:endParaRPr lang="en-US" sz="1400">
                        <a:latin typeface="+mn-lt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459"/>
                        </a:lnSpc>
                        <a:defRPr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+mn-lt"/>
                          <a:ea typeface="Fira Sans Bold"/>
                          <a:cs typeface="Fira Sans Bold"/>
                          <a:sym typeface="Fira Sans Bold"/>
                        </a:rPr>
                        <a:t>-</a:t>
                      </a:r>
                      <a:endParaRPr lang="en-US" sz="1400">
                        <a:latin typeface="+mn-lt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56912">
                <a:tc>
                  <a:txBody>
                    <a:bodyPr/>
                    <a:lstStyle/>
                    <a:p>
                      <a:pPr algn="l">
                        <a:lnSpc>
                          <a:spcPts val="3500"/>
                        </a:lnSpc>
                        <a:defRPr/>
                      </a:pPr>
                      <a:r>
                        <a:rPr lang="en-US" sz="1400">
                          <a:solidFill>
                            <a:srgbClr val="FFFFFF"/>
                          </a:solidFill>
                          <a:latin typeface="+mn-lt"/>
                          <a:ea typeface="Fira Sans"/>
                          <a:cs typeface="Fira Sans"/>
                          <a:sym typeface="Fira Sans"/>
                        </a:rPr>
                        <a:t>Универсальность решения для большого кол-ва задач, без необходимости дополнительного вмешательства</a:t>
                      </a:r>
                      <a:endParaRPr lang="en-US" sz="1400">
                        <a:latin typeface="+mn-lt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459"/>
                        </a:lnSpc>
                        <a:defRPr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+mn-lt"/>
                          <a:ea typeface="Fira Sans Bold"/>
                          <a:cs typeface="Fira Sans Bold"/>
                          <a:sym typeface="Fira Sans Bold"/>
                        </a:rPr>
                        <a:t>+</a:t>
                      </a:r>
                      <a:endParaRPr lang="en-US" sz="1400">
                        <a:latin typeface="+mn-lt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459"/>
                        </a:lnSpc>
                        <a:defRPr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+mn-lt"/>
                          <a:ea typeface="Fira Sans Bold"/>
                          <a:cs typeface="Fira Sans Bold"/>
                          <a:sym typeface="Fira Sans Bold"/>
                        </a:rPr>
                        <a:t>+</a:t>
                      </a:r>
                      <a:endParaRPr lang="en-US" sz="1400" dirty="0">
                        <a:latin typeface="+mn-lt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459"/>
                        </a:lnSpc>
                        <a:defRPr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+mn-lt"/>
                          <a:ea typeface="Fira Sans Bold"/>
                          <a:cs typeface="Fira Sans Bold"/>
                          <a:sym typeface="Fira Sans Bold"/>
                        </a:rPr>
                        <a:t>_</a:t>
                      </a:r>
                      <a:endParaRPr lang="en-US" sz="1400">
                        <a:latin typeface="+mn-lt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459"/>
                        </a:lnSpc>
                        <a:defRPr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+mn-lt"/>
                          <a:ea typeface="Fira Sans Bold"/>
                          <a:cs typeface="Fira Sans Bold"/>
                          <a:sym typeface="Fira Sans Bold"/>
                        </a:rPr>
                        <a:t>_</a:t>
                      </a:r>
                      <a:endParaRPr lang="en-US" sz="1400" dirty="0">
                        <a:latin typeface="+mn-lt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58931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D8D5FE-271A-4DA5-B80F-09E9AF1E4C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544747"/>
            <a:ext cx="11201399" cy="1905000"/>
          </a:xfrm>
        </p:spPr>
        <p:txBody>
          <a:bodyPr>
            <a:noAutofit/>
          </a:bodyPr>
          <a:lstStyle/>
          <a:p>
            <a:r>
              <a:rPr lang="ru-RU" sz="6000" dirty="0"/>
              <a:t>Конкурентные преимущества</a:t>
            </a:r>
          </a:p>
        </p:txBody>
      </p:sp>
      <p:sp>
        <p:nvSpPr>
          <p:cNvPr id="4" name="TextBox 11">
            <a:extLst>
              <a:ext uri="{FF2B5EF4-FFF2-40B4-BE49-F238E27FC236}">
                <a16:creationId xmlns:a16="http://schemas.microsoft.com/office/drawing/2014/main" id="{6C6D04DD-21E9-4A9C-B372-0A17E3C39F9C}"/>
              </a:ext>
            </a:extLst>
          </p:cNvPr>
          <p:cNvSpPr txBox="1"/>
          <p:nvPr/>
        </p:nvSpPr>
        <p:spPr>
          <a:xfrm>
            <a:off x="5797550" y="3931622"/>
            <a:ext cx="5233095" cy="7893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7"/>
              </a:lnSpc>
              <a:spcBef>
                <a:spcPct val="0"/>
              </a:spcBef>
            </a:pPr>
            <a:r>
              <a:rPr lang="en-US" sz="1400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"</a:t>
            </a:r>
            <a:r>
              <a:rPr lang="en-US" sz="1400" b="1" dirty="0" err="1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Производительность</a:t>
            </a:r>
            <a:r>
              <a:rPr lang="en-US" sz="1400" b="1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" </a:t>
            </a:r>
          </a:p>
          <a:p>
            <a:pPr algn="l">
              <a:lnSpc>
                <a:spcPts val="3217"/>
              </a:lnSpc>
              <a:spcBef>
                <a:spcPct val="0"/>
              </a:spcBef>
            </a:pPr>
            <a:r>
              <a:rPr lang="en-US" sz="1400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Высокая</a:t>
            </a:r>
            <a:r>
              <a:rPr lang="en-US" sz="1400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</a:t>
            </a:r>
            <a:r>
              <a:rPr lang="en-US" sz="1400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производительность</a:t>
            </a:r>
            <a:r>
              <a:rPr lang="en-US" sz="1400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</a:t>
            </a:r>
            <a:r>
              <a:rPr lang="en-US" sz="1400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системы</a:t>
            </a:r>
            <a:endParaRPr lang="en-US" sz="1400" dirty="0">
              <a:solidFill>
                <a:srgbClr val="FFFFFF"/>
              </a:solidFill>
              <a:ea typeface="Fira Sans Light"/>
              <a:cs typeface="Fira Sans Light"/>
              <a:sym typeface="Fira Sans Light"/>
            </a:endParaRPr>
          </a:p>
        </p:txBody>
      </p:sp>
      <p:sp>
        <p:nvSpPr>
          <p:cNvPr id="5" name="TextBox 10">
            <a:extLst>
              <a:ext uri="{FF2B5EF4-FFF2-40B4-BE49-F238E27FC236}">
                <a16:creationId xmlns:a16="http://schemas.microsoft.com/office/drawing/2014/main" id="{6BF2E088-C5BA-442E-8D72-94169C127A3D}"/>
              </a:ext>
            </a:extLst>
          </p:cNvPr>
          <p:cNvSpPr txBox="1"/>
          <p:nvPr/>
        </p:nvSpPr>
        <p:spPr>
          <a:xfrm>
            <a:off x="685801" y="3929859"/>
            <a:ext cx="4965699" cy="7655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17"/>
              </a:lnSpc>
              <a:spcBef>
                <a:spcPct val="0"/>
              </a:spcBef>
            </a:pPr>
            <a:r>
              <a:rPr lang="en-US" sz="1400" b="1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"</a:t>
            </a:r>
            <a:r>
              <a:rPr lang="en-US" sz="1400" b="1" dirty="0" err="1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Отсутствие</a:t>
            </a:r>
            <a:r>
              <a:rPr lang="en-US" sz="1400" b="1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 </a:t>
            </a:r>
            <a:r>
              <a:rPr lang="en-US" sz="1400" b="1" dirty="0" err="1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необходимости</a:t>
            </a:r>
            <a:r>
              <a:rPr lang="en-US" sz="1400" b="1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 </a:t>
            </a:r>
            <a:r>
              <a:rPr lang="en-US" sz="1400" b="1" dirty="0" err="1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серьезного</a:t>
            </a:r>
            <a:r>
              <a:rPr lang="en-US" sz="1400" b="1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 </a:t>
            </a:r>
            <a:r>
              <a:rPr lang="en-US" sz="1400" b="1" dirty="0" err="1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оборудования</a:t>
            </a:r>
            <a:r>
              <a:rPr lang="en-US" sz="1400" b="1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" </a:t>
            </a:r>
          </a:p>
          <a:p>
            <a:pPr algn="l">
              <a:lnSpc>
                <a:spcPts val="3217"/>
              </a:lnSpc>
              <a:spcBef>
                <a:spcPct val="0"/>
              </a:spcBef>
            </a:pPr>
            <a:r>
              <a:rPr lang="en-US" sz="1400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Наше</a:t>
            </a:r>
            <a:r>
              <a:rPr lang="en-US" sz="1400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ПО </a:t>
            </a:r>
            <a:r>
              <a:rPr lang="en-US" sz="1400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интегрируется</a:t>
            </a:r>
            <a:r>
              <a:rPr lang="en-US" sz="1400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и </a:t>
            </a:r>
            <a:r>
              <a:rPr lang="en-US" sz="1400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используется</a:t>
            </a:r>
            <a:r>
              <a:rPr lang="en-US" sz="1400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с </a:t>
            </a:r>
            <a:r>
              <a:rPr lang="en-US" sz="1400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большинством</a:t>
            </a:r>
            <a:r>
              <a:rPr lang="en-US" sz="1400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</a:t>
            </a:r>
            <a:r>
              <a:rPr lang="en-US" sz="1400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камер</a:t>
            </a:r>
            <a:endParaRPr lang="en-US" sz="1400" dirty="0">
              <a:solidFill>
                <a:srgbClr val="FFFFFF"/>
              </a:solidFill>
              <a:ea typeface="Fira Sans Light"/>
              <a:cs typeface="Fira Sans Light"/>
              <a:sym typeface="Fira Sans Light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2DABA97A-CB8F-4A63-8A7D-C54D68111EA6}"/>
              </a:ext>
            </a:extLst>
          </p:cNvPr>
          <p:cNvSpPr txBox="1"/>
          <p:nvPr/>
        </p:nvSpPr>
        <p:spPr>
          <a:xfrm>
            <a:off x="685801" y="5173783"/>
            <a:ext cx="4597399" cy="1593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217"/>
              </a:lnSpc>
              <a:spcBef>
                <a:spcPct val="0"/>
              </a:spcBef>
            </a:pPr>
            <a:r>
              <a:rPr lang="en-US" sz="1400" b="1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"</a:t>
            </a:r>
            <a:r>
              <a:rPr lang="en-US" sz="1400" b="1" dirty="0" err="1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Понятные</a:t>
            </a:r>
            <a:r>
              <a:rPr lang="en-US" sz="1400" b="1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 </a:t>
            </a:r>
            <a:r>
              <a:rPr lang="en-US" sz="1400" b="1" dirty="0" err="1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расходы</a:t>
            </a:r>
            <a:r>
              <a:rPr lang="en-US" sz="1400" b="1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"</a:t>
            </a:r>
            <a:r>
              <a:rPr lang="en-US" sz="1400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</a:t>
            </a:r>
          </a:p>
          <a:p>
            <a:pPr>
              <a:lnSpc>
                <a:spcPts val="3217"/>
              </a:lnSpc>
              <a:spcBef>
                <a:spcPct val="0"/>
              </a:spcBef>
            </a:pPr>
            <a:r>
              <a:rPr lang="en-US" sz="1400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Прозрачная</a:t>
            </a:r>
            <a:r>
              <a:rPr lang="en-US" sz="1400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и </a:t>
            </a:r>
            <a:r>
              <a:rPr lang="en-US" sz="1400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понятная</a:t>
            </a:r>
            <a:r>
              <a:rPr lang="en-US" sz="1400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</a:t>
            </a:r>
            <a:r>
              <a:rPr lang="en-US" sz="1400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подписка</a:t>
            </a:r>
            <a:r>
              <a:rPr lang="en-US" sz="1400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с </a:t>
            </a:r>
            <a:r>
              <a:rPr lang="en-US" sz="1400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предсказуемыми</a:t>
            </a:r>
            <a:r>
              <a:rPr lang="en-US" sz="1400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</a:t>
            </a:r>
            <a:r>
              <a:rPr lang="en-US" sz="1400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расходами</a:t>
            </a:r>
            <a:endParaRPr lang="en-US" sz="1400" dirty="0">
              <a:solidFill>
                <a:srgbClr val="FFFFFF"/>
              </a:solidFill>
              <a:ea typeface="Fira Sans Light"/>
              <a:cs typeface="Fira Sans Light"/>
              <a:sym typeface="Fira Sans Light"/>
            </a:endParaRPr>
          </a:p>
          <a:p>
            <a:pPr>
              <a:lnSpc>
                <a:spcPts val="3217"/>
              </a:lnSpc>
              <a:spcBef>
                <a:spcPct val="0"/>
              </a:spcBef>
            </a:pPr>
            <a:endParaRPr lang="en-US" sz="1400" dirty="0">
              <a:solidFill>
                <a:srgbClr val="FFFFFF"/>
              </a:solidFill>
              <a:ea typeface="Fira Sans Light"/>
              <a:cs typeface="Fira Sans Light"/>
              <a:sym typeface="Fira Sans Light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418836DC-1D2C-4FD3-9559-3051FAC01DF1}"/>
              </a:ext>
            </a:extLst>
          </p:cNvPr>
          <p:cNvSpPr txBox="1"/>
          <p:nvPr/>
        </p:nvSpPr>
        <p:spPr>
          <a:xfrm>
            <a:off x="5797550" y="2222312"/>
            <a:ext cx="6191250" cy="15894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17"/>
              </a:lnSpc>
              <a:spcBef>
                <a:spcPct val="0"/>
              </a:spcBef>
            </a:pPr>
            <a:r>
              <a:rPr lang="en-US" sz="1400" b="1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"</a:t>
            </a:r>
            <a:r>
              <a:rPr lang="en-US" sz="1400" b="1" dirty="0" err="1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Минимизирование</a:t>
            </a:r>
            <a:r>
              <a:rPr lang="en-US" sz="1400" b="1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 </a:t>
            </a:r>
            <a:r>
              <a:rPr lang="en-US" sz="1400" b="1" dirty="0" err="1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человеческого</a:t>
            </a:r>
            <a:r>
              <a:rPr lang="en-US" sz="1400" b="1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 </a:t>
            </a:r>
            <a:r>
              <a:rPr lang="en-US" sz="1400" b="1" dirty="0" err="1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фактора</a:t>
            </a:r>
            <a:r>
              <a:rPr lang="en-US" sz="1400" b="1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"</a:t>
            </a:r>
          </a:p>
          <a:p>
            <a:pPr algn="l">
              <a:lnSpc>
                <a:spcPts val="3217"/>
              </a:lnSpc>
              <a:spcBef>
                <a:spcPct val="0"/>
              </a:spcBef>
            </a:pPr>
            <a:r>
              <a:rPr lang="en-US" sz="1400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Человеческий</a:t>
            </a:r>
            <a:r>
              <a:rPr lang="en-US" sz="1400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</a:t>
            </a:r>
            <a:r>
              <a:rPr lang="en-US" sz="1400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фактор</a:t>
            </a:r>
            <a:r>
              <a:rPr lang="en-US" sz="1400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</a:t>
            </a:r>
            <a:r>
              <a:rPr lang="en-US" sz="1400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приводит</a:t>
            </a:r>
            <a:r>
              <a:rPr lang="en-US" sz="1400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к </a:t>
            </a:r>
            <a:r>
              <a:rPr lang="en-US" sz="1400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несанкционированным</a:t>
            </a:r>
            <a:r>
              <a:rPr lang="en-US" sz="1400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</a:t>
            </a:r>
            <a:r>
              <a:rPr lang="en-US" sz="1400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проездам</a:t>
            </a:r>
            <a:r>
              <a:rPr lang="en-US" sz="1400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и </a:t>
            </a:r>
            <a:r>
              <a:rPr lang="en-US" sz="1400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пробоям</a:t>
            </a:r>
            <a:r>
              <a:rPr lang="en-US" sz="1400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</a:t>
            </a:r>
            <a:r>
              <a:rPr lang="en-US" sz="1400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безопасности</a:t>
            </a:r>
            <a:r>
              <a:rPr lang="en-US" sz="1400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(</a:t>
            </a:r>
            <a:r>
              <a:rPr lang="en-US" sz="1400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до</a:t>
            </a:r>
            <a:r>
              <a:rPr lang="en-US" sz="1400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15% </a:t>
            </a:r>
            <a:r>
              <a:rPr lang="en-US" sz="1400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случаев</a:t>
            </a:r>
            <a:r>
              <a:rPr lang="en-US" sz="1400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)</a:t>
            </a:r>
          </a:p>
          <a:p>
            <a:pPr algn="l">
              <a:lnSpc>
                <a:spcPts val="3217"/>
              </a:lnSpc>
              <a:spcBef>
                <a:spcPct val="0"/>
              </a:spcBef>
            </a:pPr>
            <a:endParaRPr lang="en-US" sz="1400" dirty="0">
              <a:solidFill>
                <a:srgbClr val="FFFFFF"/>
              </a:solidFill>
              <a:ea typeface="Fira Sans Light"/>
              <a:cs typeface="Fira Sans Light"/>
              <a:sym typeface="Fira Sans Ligh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7FAEB3-8816-446F-8F37-FBEAD4682976}"/>
              </a:ext>
            </a:extLst>
          </p:cNvPr>
          <p:cNvSpPr txBox="1"/>
          <p:nvPr/>
        </p:nvSpPr>
        <p:spPr>
          <a:xfrm>
            <a:off x="685801" y="2222313"/>
            <a:ext cx="4597399" cy="15894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17"/>
              </a:lnSpc>
              <a:spcBef>
                <a:spcPct val="0"/>
              </a:spcBef>
            </a:pPr>
            <a:r>
              <a:rPr lang="en-US" sz="1400" b="1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"</a:t>
            </a:r>
            <a:r>
              <a:rPr lang="en-US" sz="1400" b="1" dirty="0" err="1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Минимизирование</a:t>
            </a:r>
            <a:r>
              <a:rPr lang="en-US" sz="1400" b="1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 </a:t>
            </a:r>
            <a:r>
              <a:rPr lang="en-US" sz="1400" b="1" dirty="0" err="1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человеческого</a:t>
            </a:r>
            <a:r>
              <a:rPr lang="en-US" sz="1400" b="1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 </a:t>
            </a:r>
            <a:r>
              <a:rPr lang="en-US" sz="1400" b="1" dirty="0" err="1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фактора</a:t>
            </a:r>
            <a:r>
              <a:rPr lang="en-US" sz="1400" b="1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"</a:t>
            </a:r>
          </a:p>
          <a:p>
            <a:pPr algn="l">
              <a:lnSpc>
                <a:spcPts val="3217"/>
              </a:lnSpc>
              <a:spcBef>
                <a:spcPct val="0"/>
              </a:spcBef>
            </a:pPr>
            <a:r>
              <a:rPr lang="en-US" sz="1400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Человеческий</a:t>
            </a:r>
            <a:r>
              <a:rPr lang="en-US" sz="1400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</a:t>
            </a:r>
            <a:r>
              <a:rPr lang="en-US" sz="1400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фактор</a:t>
            </a:r>
            <a:r>
              <a:rPr lang="en-US" sz="1400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</a:t>
            </a:r>
            <a:r>
              <a:rPr lang="en-US" sz="1400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приводит</a:t>
            </a:r>
            <a:r>
              <a:rPr lang="en-US" sz="1400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к </a:t>
            </a:r>
            <a:r>
              <a:rPr lang="en-US" sz="1400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несанкционированным</a:t>
            </a:r>
            <a:r>
              <a:rPr lang="en-US" sz="1400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</a:t>
            </a:r>
            <a:r>
              <a:rPr lang="en-US" sz="1400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проездам</a:t>
            </a:r>
            <a:r>
              <a:rPr lang="en-US" sz="1400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и </a:t>
            </a:r>
            <a:r>
              <a:rPr lang="en-US" sz="1400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пробоям</a:t>
            </a:r>
            <a:r>
              <a:rPr lang="en-US" sz="1400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</a:t>
            </a:r>
            <a:r>
              <a:rPr lang="en-US" sz="1400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безопасности</a:t>
            </a:r>
            <a:r>
              <a:rPr lang="en-US" sz="1400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(</a:t>
            </a:r>
            <a:r>
              <a:rPr lang="en-US" sz="1400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до</a:t>
            </a:r>
            <a:r>
              <a:rPr lang="en-US" sz="1400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15% </a:t>
            </a:r>
            <a:r>
              <a:rPr lang="en-US" sz="1400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случаев</a:t>
            </a:r>
            <a:r>
              <a:rPr lang="en-US" sz="1400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)</a:t>
            </a:r>
          </a:p>
          <a:p>
            <a:pPr algn="l">
              <a:lnSpc>
                <a:spcPts val="3217"/>
              </a:lnSpc>
              <a:spcBef>
                <a:spcPct val="0"/>
              </a:spcBef>
            </a:pPr>
            <a:endParaRPr lang="en-US" sz="1400" dirty="0">
              <a:solidFill>
                <a:srgbClr val="FFFFFF"/>
              </a:solidFill>
              <a:ea typeface="Fira Sans Light"/>
              <a:cs typeface="Fira Sans Light"/>
              <a:sym typeface="Fira Sans Ligh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0B8876-C2B3-489D-B882-C59759A0F7DA}"/>
              </a:ext>
            </a:extLst>
          </p:cNvPr>
          <p:cNvSpPr txBox="1"/>
          <p:nvPr/>
        </p:nvSpPr>
        <p:spPr>
          <a:xfrm>
            <a:off x="5797550" y="5173783"/>
            <a:ext cx="6089650" cy="1593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17"/>
              </a:lnSpc>
              <a:spcBef>
                <a:spcPct val="0"/>
              </a:spcBef>
            </a:pPr>
            <a:r>
              <a:rPr lang="en-US" sz="1400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"</a:t>
            </a:r>
            <a:r>
              <a:rPr lang="en-US" sz="1400" b="1" dirty="0" err="1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Быстрота</a:t>
            </a:r>
            <a:r>
              <a:rPr lang="en-US" sz="1400" b="1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 </a:t>
            </a:r>
            <a:r>
              <a:rPr lang="en-US" sz="1400" b="1" dirty="0" err="1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действия</a:t>
            </a:r>
            <a:r>
              <a:rPr lang="en-US" sz="1400" b="1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" </a:t>
            </a:r>
          </a:p>
          <a:p>
            <a:pPr algn="l">
              <a:lnSpc>
                <a:spcPts val="3217"/>
              </a:lnSpc>
              <a:spcBef>
                <a:spcPct val="0"/>
              </a:spcBef>
            </a:pPr>
            <a:r>
              <a:rPr lang="en-US" sz="1400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Ручная</a:t>
            </a:r>
            <a:r>
              <a:rPr lang="en-US" sz="1400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</a:t>
            </a:r>
            <a:r>
              <a:rPr lang="en-US" sz="1400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проверка</a:t>
            </a:r>
            <a:r>
              <a:rPr lang="en-US" sz="1400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</a:t>
            </a:r>
            <a:r>
              <a:rPr lang="en-US" sz="1400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создает</a:t>
            </a:r>
            <a:r>
              <a:rPr lang="en-US" sz="1400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</a:t>
            </a:r>
            <a:r>
              <a:rPr lang="en-US" sz="1400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очереди</a:t>
            </a:r>
            <a:r>
              <a:rPr lang="en-US" sz="1400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и </a:t>
            </a:r>
            <a:r>
              <a:rPr lang="en-US" sz="1400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тратит</a:t>
            </a:r>
            <a:r>
              <a:rPr lang="en-US" sz="1400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</a:t>
            </a:r>
            <a:r>
              <a:rPr lang="en-US" sz="1400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время</a:t>
            </a:r>
            <a:r>
              <a:rPr lang="en-US" sz="1400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</a:t>
            </a:r>
            <a:r>
              <a:rPr lang="en-US" sz="1400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людей</a:t>
            </a:r>
            <a:r>
              <a:rPr lang="en-US" sz="1400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(</a:t>
            </a:r>
            <a:r>
              <a:rPr lang="en-US" sz="1400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до</a:t>
            </a:r>
            <a:r>
              <a:rPr lang="en-US" sz="1400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1 </a:t>
            </a:r>
            <a:r>
              <a:rPr lang="en-US" sz="1400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минуты</a:t>
            </a:r>
            <a:r>
              <a:rPr lang="en-US" sz="1400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</a:t>
            </a:r>
            <a:r>
              <a:rPr lang="en-US" sz="1400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на</a:t>
            </a:r>
            <a:r>
              <a:rPr lang="en-US" sz="1400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</a:t>
            </a:r>
            <a:r>
              <a:rPr lang="en-US" sz="1400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машину</a:t>
            </a:r>
            <a:r>
              <a:rPr lang="en-US" sz="1400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)</a:t>
            </a:r>
          </a:p>
          <a:p>
            <a:pPr algn="l">
              <a:lnSpc>
                <a:spcPts val="3217"/>
              </a:lnSpc>
              <a:spcBef>
                <a:spcPct val="0"/>
              </a:spcBef>
            </a:pPr>
            <a:endParaRPr lang="en-US" sz="1400" dirty="0">
              <a:solidFill>
                <a:srgbClr val="FFFFFF"/>
              </a:solidFill>
              <a:ea typeface="Fira Sans Light"/>
              <a:cs typeface="Fira Sans Light"/>
              <a:sym typeface="Fira Sans Light"/>
            </a:endParaRPr>
          </a:p>
        </p:txBody>
      </p:sp>
    </p:spTree>
    <p:extLst>
      <p:ext uri="{BB962C8B-B14F-4D97-AF65-F5344CB8AC3E}">
        <p14:creationId xmlns:p14="http://schemas.microsoft.com/office/powerpoint/2010/main" val="35136718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2B0FA3-CD40-44E2-B21B-5DACBE45D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7200" dirty="0"/>
              <a:t>Бизнес-модель</a:t>
            </a:r>
          </a:p>
        </p:txBody>
      </p:sp>
      <p:sp>
        <p:nvSpPr>
          <p:cNvPr id="4" name="TextBox 10">
            <a:extLst>
              <a:ext uri="{FF2B5EF4-FFF2-40B4-BE49-F238E27FC236}">
                <a16:creationId xmlns:a16="http://schemas.microsoft.com/office/drawing/2014/main" id="{AB16ED4F-4F04-4DD6-B56F-A3B0BCEC95CC}"/>
              </a:ext>
            </a:extLst>
          </p:cNvPr>
          <p:cNvSpPr txBox="1"/>
          <p:nvPr/>
        </p:nvSpPr>
        <p:spPr>
          <a:xfrm>
            <a:off x="6817591" y="2008718"/>
            <a:ext cx="5971310" cy="22733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1600" b="1" dirty="0" err="1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Что</a:t>
            </a:r>
            <a:r>
              <a:rPr lang="en-US" sz="1600" b="1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продаем</a:t>
            </a:r>
            <a:endParaRPr lang="en-US" sz="1600" b="1" dirty="0">
              <a:solidFill>
                <a:srgbClr val="FFFFFF"/>
              </a:solidFill>
              <a:ea typeface="Fira Sans Bold"/>
              <a:cs typeface="Fira Sans Bold"/>
              <a:sym typeface="Fira Sans Bold"/>
            </a:endParaRPr>
          </a:p>
          <a:p>
            <a:pPr algn="l">
              <a:lnSpc>
                <a:spcPts val="2970"/>
              </a:lnSpc>
              <a:spcBef>
                <a:spcPct val="0"/>
              </a:spcBef>
            </a:pPr>
            <a:r>
              <a:rPr lang="en-US" sz="1600" b="1" dirty="0" err="1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Комплекс</a:t>
            </a:r>
            <a:r>
              <a:rPr lang="en-US" sz="1600" b="1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 «</a:t>
            </a:r>
            <a:r>
              <a:rPr lang="en-US" sz="1600" b="1" dirty="0" err="1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Умные</a:t>
            </a:r>
            <a:r>
              <a:rPr lang="en-US" sz="1600" b="1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врата</a:t>
            </a:r>
            <a:r>
              <a:rPr lang="en-US" sz="1600" b="1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» </a:t>
            </a:r>
            <a:r>
              <a:rPr lang="en-US" sz="1600" b="1" dirty="0" err="1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для</a:t>
            </a:r>
            <a:r>
              <a:rPr lang="en-US" sz="1600" b="1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автоматизации</a:t>
            </a:r>
            <a:r>
              <a:rPr lang="en-US" sz="1600" b="1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шлагбаумов</a:t>
            </a:r>
            <a:r>
              <a:rPr lang="en-US" sz="1600" b="1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:</a:t>
            </a:r>
          </a:p>
          <a:p>
            <a:pPr marL="534441" lvl="1" indent="-267220" algn="l">
              <a:lnSpc>
                <a:spcPts val="2970"/>
              </a:lnSpc>
              <a:spcBef>
                <a:spcPct val="0"/>
              </a:spcBef>
              <a:buFont typeface="Arial"/>
              <a:buChar char="•"/>
            </a:pPr>
            <a:r>
              <a:rPr lang="en-US" sz="1600" dirty="0">
                <a:solidFill>
                  <a:srgbClr val="FFFFFF"/>
                </a:solidFill>
                <a:ea typeface="Fira Sans"/>
                <a:cs typeface="Fira Sans"/>
                <a:sym typeface="Fira Sans"/>
              </a:rPr>
              <a:t>ПО с </a:t>
            </a:r>
            <a:r>
              <a:rPr lang="en-US" sz="1600" dirty="0" err="1">
                <a:solidFill>
                  <a:srgbClr val="FFFFFF"/>
                </a:solidFill>
                <a:ea typeface="Fira Sans"/>
                <a:cs typeface="Fira Sans"/>
                <a:sym typeface="Fira Sans"/>
              </a:rPr>
              <a:t>нейросетью</a:t>
            </a:r>
            <a:r>
              <a:rPr lang="en-US" sz="1600" dirty="0">
                <a:solidFill>
                  <a:srgbClr val="FFFFFF"/>
                </a:solidFill>
                <a:ea typeface="Fira Sans"/>
                <a:cs typeface="Fira Sans"/>
                <a:sym typeface="Fira Sans"/>
              </a:rPr>
              <a:t> </a:t>
            </a:r>
            <a:r>
              <a:rPr lang="en-US" sz="1600" dirty="0" err="1">
                <a:solidFill>
                  <a:srgbClr val="FFFFFF"/>
                </a:solidFill>
                <a:ea typeface="Fira Sans"/>
                <a:cs typeface="Fira Sans"/>
                <a:sym typeface="Fira Sans"/>
              </a:rPr>
              <a:t>для</a:t>
            </a:r>
            <a:r>
              <a:rPr lang="en-US" sz="1600" dirty="0">
                <a:solidFill>
                  <a:srgbClr val="FFFFFF"/>
                </a:solidFill>
                <a:ea typeface="Fira Sans"/>
                <a:cs typeface="Fira Sans"/>
                <a:sym typeface="Fira Sans"/>
              </a:rPr>
              <a:t> </a:t>
            </a:r>
            <a:r>
              <a:rPr lang="en-US" sz="1600" dirty="0" err="1">
                <a:solidFill>
                  <a:srgbClr val="FFFFFF"/>
                </a:solidFill>
                <a:ea typeface="Fira Sans"/>
                <a:cs typeface="Fira Sans"/>
                <a:sym typeface="Fira Sans"/>
              </a:rPr>
              <a:t>распознавания</a:t>
            </a:r>
            <a:r>
              <a:rPr lang="en-US" sz="1600" dirty="0">
                <a:solidFill>
                  <a:srgbClr val="FFFFFF"/>
                </a:solidFill>
                <a:ea typeface="Fira Sans"/>
                <a:cs typeface="Fira Sans"/>
                <a:sym typeface="Fira Sans"/>
              </a:rPr>
              <a:t> </a:t>
            </a:r>
            <a:r>
              <a:rPr lang="en-US" sz="1600" dirty="0" err="1">
                <a:solidFill>
                  <a:srgbClr val="FFFFFF"/>
                </a:solidFill>
                <a:ea typeface="Fira Sans"/>
                <a:cs typeface="Fira Sans"/>
                <a:sym typeface="Fira Sans"/>
              </a:rPr>
              <a:t>номеров</a:t>
            </a:r>
            <a:endParaRPr lang="en-US" sz="1600" dirty="0">
              <a:solidFill>
                <a:srgbClr val="FFFFFF"/>
              </a:solidFill>
              <a:ea typeface="Fira Sans"/>
              <a:cs typeface="Fira Sans"/>
              <a:sym typeface="Fira Sans"/>
            </a:endParaRPr>
          </a:p>
          <a:p>
            <a:pPr marL="534441" lvl="1" indent="-267220" algn="l">
              <a:lnSpc>
                <a:spcPts val="2970"/>
              </a:lnSpc>
              <a:spcBef>
                <a:spcPct val="0"/>
              </a:spcBef>
              <a:buFont typeface="Arial"/>
              <a:buChar char="•"/>
            </a:pPr>
            <a:r>
              <a:rPr lang="en-US" sz="1600" dirty="0" err="1">
                <a:solidFill>
                  <a:srgbClr val="FFFFFF"/>
                </a:solidFill>
                <a:ea typeface="Fira Sans"/>
                <a:cs typeface="Fira Sans"/>
                <a:sym typeface="Fira Sans"/>
              </a:rPr>
              <a:t>Личный</a:t>
            </a:r>
            <a:r>
              <a:rPr lang="en-US" sz="1600" dirty="0">
                <a:solidFill>
                  <a:srgbClr val="FFFFFF"/>
                </a:solidFill>
                <a:ea typeface="Fira Sans"/>
                <a:cs typeface="Fira Sans"/>
                <a:sym typeface="Fira Sans"/>
              </a:rPr>
              <a:t> </a:t>
            </a:r>
            <a:r>
              <a:rPr lang="en-US" sz="1600" dirty="0" err="1">
                <a:solidFill>
                  <a:srgbClr val="FFFFFF"/>
                </a:solidFill>
                <a:ea typeface="Fira Sans"/>
                <a:cs typeface="Fira Sans"/>
                <a:sym typeface="Fira Sans"/>
              </a:rPr>
              <a:t>кабинет</a:t>
            </a:r>
            <a:r>
              <a:rPr lang="en-US" sz="1600" dirty="0">
                <a:solidFill>
                  <a:srgbClr val="FFFFFF"/>
                </a:solidFill>
                <a:ea typeface="Fira Sans"/>
                <a:cs typeface="Fira Sans"/>
                <a:sym typeface="Fira Sans"/>
              </a:rPr>
              <a:t> </a:t>
            </a:r>
            <a:r>
              <a:rPr lang="en-US" sz="1600" dirty="0" err="1">
                <a:solidFill>
                  <a:srgbClr val="FFFFFF"/>
                </a:solidFill>
                <a:ea typeface="Fira Sans"/>
                <a:cs typeface="Fira Sans"/>
                <a:sym typeface="Fira Sans"/>
              </a:rPr>
              <a:t>для</a:t>
            </a:r>
            <a:r>
              <a:rPr lang="en-US" sz="1600" dirty="0">
                <a:solidFill>
                  <a:srgbClr val="FFFFFF"/>
                </a:solidFill>
                <a:ea typeface="Fira Sans"/>
                <a:cs typeface="Fira Sans"/>
                <a:sym typeface="Fira Sans"/>
              </a:rPr>
              <a:t> </a:t>
            </a:r>
            <a:r>
              <a:rPr lang="en-US" sz="1600" dirty="0" err="1">
                <a:solidFill>
                  <a:srgbClr val="FFFFFF"/>
                </a:solidFill>
                <a:ea typeface="Fira Sans"/>
                <a:cs typeface="Fira Sans"/>
                <a:sym typeface="Fira Sans"/>
              </a:rPr>
              <a:t>управления</a:t>
            </a:r>
            <a:r>
              <a:rPr lang="en-US" sz="1600" dirty="0">
                <a:solidFill>
                  <a:srgbClr val="FFFFFF"/>
                </a:solidFill>
                <a:ea typeface="Fira Sans"/>
                <a:cs typeface="Fira Sans"/>
                <a:sym typeface="Fira Sans"/>
              </a:rPr>
              <a:t> </a:t>
            </a:r>
            <a:r>
              <a:rPr lang="en-US" sz="1600" dirty="0" err="1">
                <a:solidFill>
                  <a:srgbClr val="FFFFFF"/>
                </a:solidFill>
                <a:ea typeface="Fira Sans"/>
                <a:cs typeface="Fira Sans"/>
                <a:sym typeface="Fira Sans"/>
              </a:rPr>
              <a:t>доступом</a:t>
            </a:r>
            <a:endParaRPr lang="en-US" sz="1600" dirty="0">
              <a:solidFill>
                <a:srgbClr val="FFFFFF"/>
              </a:solidFill>
              <a:ea typeface="Fira Sans"/>
              <a:cs typeface="Fira Sans"/>
              <a:sym typeface="Fira Sans"/>
            </a:endParaRPr>
          </a:p>
          <a:p>
            <a:pPr marL="534441" lvl="1" indent="-267220" algn="l">
              <a:lnSpc>
                <a:spcPts val="2970"/>
              </a:lnSpc>
              <a:spcBef>
                <a:spcPct val="0"/>
              </a:spcBef>
              <a:buFont typeface="Arial"/>
              <a:buChar char="•"/>
            </a:pPr>
            <a:r>
              <a:rPr lang="en-US" sz="1600" dirty="0" err="1">
                <a:solidFill>
                  <a:srgbClr val="FFFFFF"/>
                </a:solidFill>
                <a:ea typeface="Fira Sans"/>
                <a:cs typeface="Fira Sans"/>
                <a:sym typeface="Fira Sans"/>
              </a:rPr>
              <a:t>Услуги</a:t>
            </a:r>
            <a:r>
              <a:rPr lang="en-US" sz="1600" dirty="0">
                <a:solidFill>
                  <a:srgbClr val="FFFFFF"/>
                </a:solidFill>
                <a:ea typeface="Fira Sans"/>
                <a:cs typeface="Fira Sans"/>
                <a:sym typeface="Fira Sans"/>
              </a:rPr>
              <a:t> </a:t>
            </a:r>
            <a:r>
              <a:rPr lang="en-US" sz="1600" dirty="0" err="1">
                <a:solidFill>
                  <a:srgbClr val="FFFFFF"/>
                </a:solidFill>
                <a:ea typeface="Fira Sans"/>
                <a:cs typeface="Fira Sans"/>
                <a:sym typeface="Fira Sans"/>
              </a:rPr>
              <a:t>установки</a:t>
            </a:r>
            <a:r>
              <a:rPr lang="en-US" sz="1600" dirty="0">
                <a:solidFill>
                  <a:srgbClr val="FFFFFF"/>
                </a:solidFill>
                <a:ea typeface="Fira Sans"/>
                <a:cs typeface="Fira Sans"/>
                <a:sym typeface="Fira Sans"/>
              </a:rPr>
              <a:t> и </a:t>
            </a:r>
            <a:r>
              <a:rPr lang="en-US" sz="1600" dirty="0" err="1">
                <a:solidFill>
                  <a:srgbClr val="FFFFFF"/>
                </a:solidFill>
                <a:ea typeface="Fira Sans"/>
                <a:cs typeface="Fira Sans"/>
                <a:sym typeface="Fira Sans"/>
              </a:rPr>
              <a:t>поддержки</a:t>
            </a:r>
            <a:endParaRPr lang="en-US" sz="1600" dirty="0">
              <a:solidFill>
                <a:srgbClr val="FFFFFF"/>
              </a:solidFill>
              <a:ea typeface="Fira Sans"/>
              <a:cs typeface="Fira Sans"/>
              <a:sym typeface="Fira Sans"/>
            </a:endParaRPr>
          </a:p>
          <a:p>
            <a:pPr algn="l">
              <a:lnSpc>
                <a:spcPts val="2970"/>
              </a:lnSpc>
              <a:spcBef>
                <a:spcPct val="0"/>
              </a:spcBef>
            </a:pPr>
            <a:endParaRPr lang="en-US" sz="1600" dirty="0">
              <a:solidFill>
                <a:srgbClr val="FFFFFF"/>
              </a:solidFill>
              <a:ea typeface="Fira Sans"/>
              <a:cs typeface="Fira Sans"/>
              <a:sym typeface="Fira Sans"/>
            </a:endParaRPr>
          </a:p>
        </p:txBody>
      </p:sp>
      <p:sp>
        <p:nvSpPr>
          <p:cNvPr id="5" name="TextBox 11">
            <a:extLst>
              <a:ext uri="{FF2B5EF4-FFF2-40B4-BE49-F238E27FC236}">
                <a16:creationId xmlns:a16="http://schemas.microsoft.com/office/drawing/2014/main" id="{E8137B34-8F20-4258-9E9E-AF32602114E8}"/>
              </a:ext>
            </a:extLst>
          </p:cNvPr>
          <p:cNvSpPr txBox="1"/>
          <p:nvPr/>
        </p:nvSpPr>
        <p:spPr>
          <a:xfrm>
            <a:off x="533401" y="2534324"/>
            <a:ext cx="4051300" cy="22662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58"/>
              </a:lnSpc>
              <a:spcBef>
                <a:spcPct val="0"/>
              </a:spcBef>
            </a:pPr>
            <a:r>
              <a:rPr lang="en-US" sz="1600" b="1" dirty="0" err="1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Модель</a:t>
            </a:r>
            <a:r>
              <a:rPr lang="en-US" sz="1600" b="1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монетизации</a:t>
            </a:r>
            <a:endParaRPr lang="en-US" sz="1600" b="1" dirty="0">
              <a:solidFill>
                <a:srgbClr val="FFFFFF"/>
              </a:solidFill>
              <a:ea typeface="Fira Sans Bold"/>
              <a:cs typeface="Fira Sans Bold"/>
              <a:sym typeface="Fira Sans Bold"/>
            </a:endParaRPr>
          </a:p>
          <a:p>
            <a:pPr algn="l">
              <a:lnSpc>
                <a:spcPts val="2958"/>
              </a:lnSpc>
              <a:spcBef>
                <a:spcPct val="0"/>
              </a:spcBef>
            </a:pPr>
            <a:r>
              <a:rPr lang="en-US" sz="1600" b="1" dirty="0" err="1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Гибридная</a:t>
            </a:r>
            <a:r>
              <a:rPr lang="en-US" sz="1600" b="1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модель</a:t>
            </a:r>
            <a:r>
              <a:rPr lang="en-US" sz="1600" b="1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:</a:t>
            </a:r>
          </a:p>
          <a:p>
            <a:pPr marL="532226" lvl="1" indent="-266113" algn="l">
              <a:lnSpc>
                <a:spcPts val="2958"/>
              </a:lnSpc>
              <a:buFont typeface="Arial"/>
              <a:buChar char="•"/>
            </a:pPr>
            <a:r>
              <a:rPr lang="en-US" sz="1600" b="1" dirty="0" err="1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Разовый</a:t>
            </a:r>
            <a:r>
              <a:rPr lang="en-US" sz="1600" b="1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платеж</a:t>
            </a:r>
            <a:r>
              <a:rPr lang="en-US" sz="1600" b="1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: </a:t>
            </a:r>
            <a:r>
              <a:rPr lang="en-US" sz="1600" dirty="0">
                <a:solidFill>
                  <a:srgbClr val="FFFFFF"/>
                </a:solidFill>
                <a:ea typeface="Fira Sans"/>
                <a:cs typeface="Fira Sans"/>
                <a:sym typeface="Fira Sans"/>
              </a:rPr>
              <a:t>100 000 ₽ (</a:t>
            </a:r>
            <a:r>
              <a:rPr lang="en-US" sz="1600" dirty="0" err="1">
                <a:solidFill>
                  <a:srgbClr val="FFFFFF"/>
                </a:solidFill>
                <a:ea typeface="Fira Sans"/>
                <a:cs typeface="Fira Sans"/>
                <a:sym typeface="Fira Sans"/>
              </a:rPr>
              <a:t>оборудование</a:t>
            </a:r>
            <a:r>
              <a:rPr lang="en-US" sz="1600" dirty="0">
                <a:solidFill>
                  <a:srgbClr val="FFFFFF"/>
                </a:solidFill>
                <a:ea typeface="Fira Sans"/>
                <a:cs typeface="Fira Sans"/>
                <a:sym typeface="Fira Sans"/>
              </a:rPr>
              <a:t> + </a:t>
            </a:r>
            <a:r>
              <a:rPr lang="en-US" sz="1600" dirty="0" err="1">
                <a:solidFill>
                  <a:srgbClr val="FFFFFF"/>
                </a:solidFill>
                <a:ea typeface="Fira Sans"/>
                <a:cs typeface="Fira Sans"/>
                <a:sym typeface="Fira Sans"/>
              </a:rPr>
              <a:t>установка</a:t>
            </a:r>
            <a:r>
              <a:rPr lang="en-US" sz="1600" dirty="0">
                <a:solidFill>
                  <a:srgbClr val="FFFFFF"/>
                </a:solidFill>
                <a:ea typeface="Fira Sans"/>
                <a:cs typeface="Fira Sans"/>
                <a:sym typeface="Fira Sans"/>
              </a:rPr>
              <a:t>)</a:t>
            </a:r>
          </a:p>
          <a:p>
            <a:pPr marL="532226" lvl="1" indent="-266113" algn="l">
              <a:lnSpc>
                <a:spcPts val="2958"/>
              </a:lnSpc>
              <a:buFont typeface="Arial"/>
              <a:buChar char="•"/>
            </a:pPr>
            <a:r>
              <a:rPr lang="en-US" sz="1600" b="1" dirty="0" err="1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Подписка</a:t>
            </a:r>
            <a:r>
              <a:rPr lang="en-US" sz="1600" b="1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: </a:t>
            </a:r>
            <a:r>
              <a:rPr lang="en-US" sz="1600" dirty="0">
                <a:solidFill>
                  <a:srgbClr val="FFFFFF"/>
                </a:solidFill>
                <a:ea typeface="Fira Sans"/>
                <a:cs typeface="Fira Sans"/>
                <a:sym typeface="Fira Sans"/>
              </a:rPr>
              <a:t>3 000 ₽/</a:t>
            </a:r>
            <a:r>
              <a:rPr lang="en-US" sz="1600" dirty="0" err="1">
                <a:solidFill>
                  <a:srgbClr val="FFFFFF"/>
                </a:solidFill>
                <a:ea typeface="Fira Sans"/>
                <a:cs typeface="Fira Sans"/>
                <a:sym typeface="Fira Sans"/>
              </a:rPr>
              <a:t>месяц</a:t>
            </a:r>
            <a:r>
              <a:rPr lang="en-US" sz="1600" dirty="0">
                <a:solidFill>
                  <a:srgbClr val="FFFFFF"/>
                </a:solidFill>
                <a:ea typeface="Fira Sans"/>
                <a:cs typeface="Fira Sans"/>
                <a:sym typeface="Fira Sans"/>
              </a:rPr>
              <a:t> (ПО, </a:t>
            </a:r>
            <a:r>
              <a:rPr lang="en-US" sz="1600" dirty="0" err="1">
                <a:solidFill>
                  <a:srgbClr val="FFFFFF"/>
                </a:solidFill>
                <a:ea typeface="Fira Sans"/>
                <a:cs typeface="Fira Sans"/>
                <a:sym typeface="Fira Sans"/>
              </a:rPr>
              <a:t>обновления</a:t>
            </a:r>
            <a:r>
              <a:rPr lang="en-US" sz="1600" dirty="0">
                <a:solidFill>
                  <a:srgbClr val="FFFFFF"/>
                </a:solidFill>
                <a:ea typeface="Fira Sans"/>
                <a:cs typeface="Fira Sans"/>
                <a:sym typeface="Fira Sans"/>
              </a:rPr>
              <a:t>, </a:t>
            </a:r>
            <a:r>
              <a:rPr lang="en-US" sz="1600" dirty="0" err="1">
                <a:solidFill>
                  <a:srgbClr val="FFFFFF"/>
                </a:solidFill>
                <a:ea typeface="Fira Sans"/>
                <a:cs typeface="Fira Sans"/>
                <a:sym typeface="Fira Sans"/>
              </a:rPr>
              <a:t>поддержка</a:t>
            </a:r>
            <a:r>
              <a:rPr lang="en-US" sz="1600" dirty="0">
                <a:solidFill>
                  <a:srgbClr val="FFFFFF"/>
                </a:solidFill>
                <a:ea typeface="Fira Sans"/>
                <a:cs typeface="Fira Sans"/>
                <a:sym typeface="Fira Sans"/>
              </a:rPr>
              <a:t>, </a:t>
            </a:r>
            <a:r>
              <a:rPr lang="en-US" sz="1600" dirty="0" err="1">
                <a:solidFill>
                  <a:srgbClr val="FFFFFF"/>
                </a:solidFill>
                <a:ea typeface="Fira Sans"/>
                <a:cs typeface="Fira Sans"/>
                <a:sym typeface="Fira Sans"/>
              </a:rPr>
              <a:t>облако</a:t>
            </a:r>
            <a:r>
              <a:rPr lang="en-US" sz="1600" dirty="0">
                <a:solidFill>
                  <a:srgbClr val="FFFFFF"/>
                </a:solidFill>
                <a:ea typeface="Fira Sans"/>
                <a:cs typeface="Fira Sans"/>
                <a:sym typeface="Fira Sans"/>
              </a:rPr>
              <a:t>)</a:t>
            </a:r>
          </a:p>
        </p:txBody>
      </p:sp>
      <p:sp>
        <p:nvSpPr>
          <p:cNvPr id="6" name="TextBox 12">
            <a:extLst>
              <a:ext uri="{FF2B5EF4-FFF2-40B4-BE49-F238E27FC236}">
                <a16:creationId xmlns:a16="http://schemas.microsoft.com/office/drawing/2014/main" id="{CFE6EFF9-9666-4388-AD5A-792B587EBE54}"/>
              </a:ext>
            </a:extLst>
          </p:cNvPr>
          <p:cNvSpPr txBox="1"/>
          <p:nvPr/>
        </p:nvSpPr>
        <p:spPr>
          <a:xfrm>
            <a:off x="4584701" y="4157149"/>
            <a:ext cx="6540499" cy="22955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015"/>
              </a:lnSpc>
              <a:spcBef>
                <a:spcPct val="0"/>
              </a:spcBef>
            </a:pPr>
            <a:r>
              <a:rPr lang="en-US" sz="1600" b="1" dirty="0" err="1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Финансовый</a:t>
            </a:r>
            <a:r>
              <a:rPr lang="en-US" sz="1600" b="1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прогноз</a:t>
            </a:r>
            <a:r>
              <a:rPr lang="en-US" sz="1600" b="1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 (1 </a:t>
            </a:r>
            <a:r>
              <a:rPr lang="en-US" sz="1600" b="1" dirty="0" err="1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год</a:t>
            </a:r>
            <a:r>
              <a:rPr lang="en-US" sz="1600" b="1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)</a:t>
            </a:r>
          </a:p>
          <a:p>
            <a:pPr marL="542463" lvl="1" indent="-271232" algn="l">
              <a:lnSpc>
                <a:spcPts val="3015"/>
              </a:lnSpc>
              <a:buFont typeface="Arial"/>
              <a:buChar char="•"/>
            </a:pPr>
            <a:r>
              <a:rPr lang="en-US" sz="1600" b="1" dirty="0" err="1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Цель</a:t>
            </a:r>
            <a:r>
              <a:rPr lang="en-US" sz="1600" b="1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: </a:t>
            </a:r>
            <a:r>
              <a:rPr lang="en-US" sz="1600" dirty="0">
                <a:solidFill>
                  <a:srgbClr val="FFFFFF"/>
                </a:solidFill>
                <a:ea typeface="Fira Sans"/>
                <a:cs typeface="Fira Sans"/>
                <a:sym typeface="Fira Sans"/>
              </a:rPr>
              <a:t>20 </a:t>
            </a:r>
            <a:r>
              <a:rPr lang="en-US" sz="1600" dirty="0" err="1">
                <a:solidFill>
                  <a:srgbClr val="FFFFFF"/>
                </a:solidFill>
                <a:ea typeface="Fira Sans"/>
                <a:cs typeface="Fira Sans"/>
                <a:sym typeface="Fira Sans"/>
              </a:rPr>
              <a:t>клиентов</a:t>
            </a:r>
            <a:endParaRPr lang="en-US" sz="1600" dirty="0">
              <a:solidFill>
                <a:srgbClr val="FFFFFF"/>
              </a:solidFill>
              <a:ea typeface="Fira Sans"/>
              <a:cs typeface="Fira Sans"/>
              <a:sym typeface="Fira Sans"/>
            </a:endParaRPr>
          </a:p>
          <a:p>
            <a:pPr marL="542463" lvl="1" indent="-271232" algn="l">
              <a:lnSpc>
                <a:spcPts val="3015"/>
              </a:lnSpc>
              <a:buFont typeface="Arial"/>
              <a:buChar char="•"/>
            </a:pPr>
            <a:r>
              <a:rPr lang="en-US" sz="1600" b="1" dirty="0" err="1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Выручка</a:t>
            </a:r>
            <a:r>
              <a:rPr lang="en-US" sz="1600" b="1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:</a:t>
            </a:r>
            <a:r>
              <a:rPr lang="en-US" sz="1600" dirty="0">
                <a:solidFill>
                  <a:srgbClr val="FFFFFF"/>
                </a:solidFill>
                <a:ea typeface="Fira Sans"/>
                <a:cs typeface="Fira Sans"/>
                <a:sym typeface="Fira Sans"/>
              </a:rPr>
              <a:t> 2 720 000 ₽</a:t>
            </a:r>
          </a:p>
          <a:p>
            <a:pPr marL="542463" lvl="1" indent="-271232" algn="l">
              <a:lnSpc>
                <a:spcPts val="3015"/>
              </a:lnSpc>
              <a:buFont typeface="Arial"/>
              <a:buChar char="•"/>
            </a:pPr>
            <a:r>
              <a:rPr lang="en-US" sz="1600" b="1" dirty="0" err="1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Разовые</a:t>
            </a:r>
            <a:r>
              <a:rPr lang="en-US" sz="1600" b="1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платежи</a:t>
            </a:r>
            <a:r>
              <a:rPr lang="en-US" sz="1600" b="1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: </a:t>
            </a:r>
            <a:r>
              <a:rPr lang="en-US" sz="1600" dirty="0">
                <a:solidFill>
                  <a:srgbClr val="FFFFFF"/>
                </a:solidFill>
                <a:ea typeface="Fira Sans"/>
                <a:cs typeface="Fira Sans"/>
                <a:sym typeface="Fira Sans"/>
              </a:rPr>
              <a:t>2 000 000 ₽</a:t>
            </a:r>
          </a:p>
          <a:p>
            <a:pPr marL="542463" lvl="1" indent="-271232" algn="l">
              <a:lnSpc>
                <a:spcPts val="3015"/>
              </a:lnSpc>
              <a:buFont typeface="Arial"/>
              <a:buChar char="•"/>
            </a:pPr>
            <a:r>
              <a:rPr lang="en-US" sz="1600" b="1" dirty="0" err="1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Подписка</a:t>
            </a:r>
            <a:r>
              <a:rPr lang="en-US" sz="1600" b="1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: </a:t>
            </a:r>
            <a:r>
              <a:rPr lang="en-US" sz="1600" dirty="0">
                <a:solidFill>
                  <a:srgbClr val="FFFFFF"/>
                </a:solidFill>
                <a:ea typeface="Fira Sans"/>
                <a:cs typeface="Fira Sans"/>
                <a:sym typeface="Fira Sans"/>
              </a:rPr>
              <a:t>720 000 ₽</a:t>
            </a:r>
          </a:p>
          <a:p>
            <a:pPr marL="542463" lvl="1" indent="-271232" algn="l">
              <a:lnSpc>
                <a:spcPts val="3015"/>
              </a:lnSpc>
              <a:buFont typeface="Arial"/>
              <a:buChar char="•"/>
            </a:pPr>
            <a:r>
              <a:rPr lang="en-US" sz="1600" b="1" dirty="0" err="1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Валовая</a:t>
            </a:r>
            <a:r>
              <a:rPr lang="en-US" sz="1600" b="1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прибыль</a:t>
            </a:r>
            <a:r>
              <a:rPr lang="en-US" sz="1600" b="1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 с </a:t>
            </a:r>
            <a:r>
              <a:rPr lang="en-US" sz="1600" b="1" dirty="0" err="1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клиента</a:t>
            </a:r>
            <a:r>
              <a:rPr lang="en-US" sz="1600" b="1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:</a:t>
            </a:r>
            <a:r>
              <a:rPr lang="en-US" sz="1600" dirty="0">
                <a:solidFill>
                  <a:srgbClr val="FFFFFF"/>
                </a:solidFill>
                <a:ea typeface="Fira Sans"/>
                <a:cs typeface="Fira Sans"/>
                <a:sym typeface="Fira Sans"/>
              </a:rPr>
              <a:t> 75 000 ₽</a:t>
            </a:r>
          </a:p>
        </p:txBody>
      </p:sp>
    </p:spTree>
    <p:extLst>
      <p:ext uri="{BB962C8B-B14F-4D97-AF65-F5344CB8AC3E}">
        <p14:creationId xmlns:p14="http://schemas.microsoft.com/office/powerpoint/2010/main" val="19171196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4E9688-9FE9-4BA2-882A-DF15D0ADC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0"/>
            <a:ext cx="5089357" cy="1456267"/>
          </a:xfrm>
        </p:spPr>
        <p:txBody>
          <a:bodyPr>
            <a:normAutofit/>
          </a:bodyPr>
          <a:lstStyle/>
          <a:p>
            <a:r>
              <a:rPr lang="ru-RU" sz="7200" dirty="0"/>
              <a:t>Финансы</a:t>
            </a:r>
          </a:p>
        </p:txBody>
      </p:sp>
      <p:sp>
        <p:nvSpPr>
          <p:cNvPr id="4" name="TextBox 15">
            <a:extLst>
              <a:ext uri="{FF2B5EF4-FFF2-40B4-BE49-F238E27FC236}">
                <a16:creationId xmlns:a16="http://schemas.microsoft.com/office/drawing/2014/main" id="{04E86B23-7D96-4C34-A95B-F7C5AF307026}"/>
              </a:ext>
            </a:extLst>
          </p:cNvPr>
          <p:cNvSpPr txBox="1"/>
          <p:nvPr/>
        </p:nvSpPr>
        <p:spPr>
          <a:xfrm>
            <a:off x="996229" y="2092496"/>
            <a:ext cx="5677287" cy="20345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</a:pPr>
            <a:r>
              <a:rPr lang="en-US" b="1" dirty="0" err="1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Показатели</a:t>
            </a:r>
            <a:r>
              <a:rPr lang="en-US" b="1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 </a:t>
            </a:r>
            <a:r>
              <a:rPr lang="en-US" b="1" dirty="0" err="1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на</a:t>
            </a:r>
            <a:r>
              <a:rPr lang="en-US" b="1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 </a:t>
            </a:r>
            <a:r>
              <a:rPr lang="en-US" b="1" dirty="0" err="1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клиента</a:t>
            </a:r>
            <a:endParaRPr lang="en-US" b="1" dirty="0">
              <a:solidFill>
                <a:srgbClr val="FFFFFF"/>
              </a:solidFill>
              <a:ea typeface="Fira Sans Bold"/>
              <a:cs typeface="Fira Sans Bold"/>
              <a:sym typeface="Fira Sans Bold"/>
            </a:endParaRPr>
          </a:p>
          <a:p>
            <a:pPr algn="just">
              <a:lnSpc>
                <a:spcPct val="150000"/>
              </a:lnSpc>
              <a:spcBef>
                <a:spcPct val="0"/>
              </a:spcBef>
            </a:pPr>
            <a:r>
              <a:rPr lang="en-US" b="1" dirty="0" err="1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Средний</a:t>
            </a:r>
            <a:r>
              <a:rPr lang="en-US" b="1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 </a:t>
            </a:r>
            <a:r>
              <a:rPr lang="en-US" b="1" dirty="0" err="1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чек</a:t>
            </a:r>
            <a:r>
              <a:rPr lang="en-US" b="1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: </a:t>
            </a:r>
            <a:r>
              <a:rPr lang="en-US" dirty="0">
                <a:solidFill>
                  <a:srgbClr val="FFFFFF"/>
                </a:solidFill>
                <a:ea typeface="Fira Sans"/>
                <a:cs typeface="Fira Sans"/>
                <a:sym typeface="Fira Sans"/>
              </a:rPr>
              <a:t>100 000 ₽ (</a:t>
            </a:r>
            <a:r>
              <a:rPr lang="en-US" dirty="0" err="1">
                <a:solidFill>
                  <a:srgbClr val="FFFFFF"/>
                </a:solidFill>
                <a:ea typeface="Fira Sans"/>
                <a:cs typeface="Fira Sans"/>
                <a:sym typeface="Fira Sans"/>
              </a:rPr>
              <a:t>разово</a:t>
            </a:r>
            <a:r>
              <a:rPr lang="en-US" dirty="0">
                <a:solidFill>
                  <a:srgbClr val="FFFFFF"/>
                </a:solidFill>
                <a:ea typeface="Fira Sans"/>
                <a:cs typeface="Fira Sans"/>
                <a:sym typeface="Fira Sans"/>
              </a:rPr>
              <a:t>) + 3 000 ₽/</a:t>
            </a:r>
            <a:r>
              <a:rPr lang="en-US" dirty="0" err="1">
                <a:solidFill>
                  <a:srgbClr val="FFFFFF"/>
                </a:solidFill>
                <a:ea typeface="Fira Sans"/>
                <a:cs typeface="Fira Sans"/>
                <a:sym typeface="Fira Sans"/>
              </a:rPr>
              <a:t>мес</a:t>
            </a:r>
            <a:endParaRPr lang="en-US" dirty="0">
              <a:solidFill>
                <a:srgbClr val="FFFFFF"/>
              </a:solidFill>
              <a:ea typeface="Fira Sans"/>
              <a:cs typeface="Fira Sans"/>
              <a:sym typeface="Fira Sans"/>
            </a:endParaRPr>
          </a:p>
          <a:p>
            <a:pPr algn="just">
              <a:lnSpc>
                <a:spcPct val="150000"/>
              </a:lnSpc>
              <a:spcBef>
                <a:spcPct val="0"/>
              </a:spcBef>
            </a:pPr>
            <a:r>
              <a:rPr lang="en-US" b="1" dirty="0" err="1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Срок</a:t>
            </a:r>
            <a:r>
              <a:rPr lang="en-US" b="1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 </a:t>
            </a:r>
            <a:r>
              <a:rPr lang="en-US" b="1" dirty="0" err="1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жизни</a:t>
            </a:r>
            <a:r>
              <a:rPr lang="en-US" b="1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:</a:t>
            </a:r>
            <a:r>
              <a:rPr lang="en-US" dirty="0">
                <a:solidFill>
                  <a:srgbClr val="FFFFFF"/>
                </a:solidFill>
                <a:ea typeface="Fira Sans"/>
                <a:cs typeface="Fira Sans"/>
                <a:sym typeface="Fira Sans"/>
              </a:rPr>
              <a:t> 36 </a:t>
            </a:r>
            <a:r>
              <a:rPr lang="en-US" dirty="0" err="1">
                <a:solidFill>
                  <a:srgbClr val="FFFFFF"/>
                </a:solidFill>
                <a:ea typeface="Fira Sans"/>
                <a:cs typeface="Fira Sans"/>
                <a:sym typeface="Fira Sans"/>
              </a:rPr>
              <a:t>месяцев</a:t>
            </a:r>
            <a:endParaRPr lang="en-US" dirty="0">
              <a:solidFill>
                <a:srgbClr val="FFFFFF"/>
              </a:solidFill>
              <a:ea typeface="Fira Sans"/>
              <a:cs typeface="Fira Sans"/>
              <a:sym typeface="Fira Sans"/>
            </a:endParaRPr>
          </a:p>
          <a:p>
            <a:pPr algn="just">
              <a:lnSpc>
                <a:spcPct val="150000"/>
              </a:lnSpc>
              <a:spcBef>
                <a:spcPct val="0"/>
              </a:spcBef>
            </a:pPr>
            <a:r>
              <a:rPr lang="en-US" b="1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LTV: </a:t>
            </a:r>
            <a:r>
              <a:rPr lang="en-US" dirty="0">
                <a:solidFill>
                  <a:srgbClr val="FFFFFF"/>
                </a:solidFill>
                <a:ea typeface="Fira Sans"/>
                <a:cs typeface="Fira Sans"/>
                <a:sym typeface="Fira Sans"/>
              </a:rPr>
              <a:t>208 000 ₽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</a:pPr>
            <a:r>
              <a:rPr lang="en-US" b="1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CAC: </a:t>
            </a:r>
            <a:r>
              <a:rPr lang="en-US" dirty="0">
                <a:solidFill>
                  <a:srgbClr val="FFFFFF"/>
                </a:solidFill>
                <a:ea typeface="Fira Sans"/>
                <a:cs typeface="Fira Sans"/>
                <a:sym typeface="Fira Sans"/>
              </a:rPr>
              <a:t>50 000 ₽</a:t>
            </a:r>
          </a:p>
        </p:txBody>
      </p:sp>
      <p:sp>
        <p:nvSpPr>
          <p:cNvPr id="5" name="TextBox 16">
            <a:extLst>
              <a:ext uri="{FF2B5EF4-FFF2-40B4-BE49-F238E27FC236}">
                <a16:creationId xmlns:a16="http://schemas.microsoft.com/office/drawing/2014/main" id="{BA55EA96-B5E1-48F0-82A7-B27B260B0C2A}"/>
              </a:ext>
            </a:extLst>
          </p:cNvPr>
          <p:cNvSpPr txBox="1"/>
          <p:nvPr/>
        </p:nvSpPr>
        <p:spPr>
          <a:xfrm>
            <a:off x="6806639" y="2600962"/>
            <a:ext cx="4774143" cy="23336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991"/>
              </a:lnSpc>
              <a:spcBef>
                <a:spcPct val="0"/>
              </a:spcBef>
            </a:pPr>
            <a:r>
              <a:rPr lang="en-US" b="1" dirty="0" err="1">
                <a:solidFill>
                  <a:srgbClr val="FFFFFF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Конверсия</a:t>
            </a:r>
            <a:r>
              <a:rPr lang="en-US" b="1" dirty="0">
                <a:solidFill>
                  <a:srgbClr val="FFFFFF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 в </a:t>
            </a:r>
            <a:r>
              <a:rPr lang="en-US" b="1" dirty="0" err="1">
                <a:solidFill>
                  <a:srgbClr val="FFFFFF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продажи</a:t>
            </a:r>
            <a:endParaRPr lang="en-US" b="1" dirty="0">
              <a:solidFill>
                <a:srgbClr val="FFFFFF"/>
              </a:solidFill>
              <a:latin typeface="Fira Sans Bold"/>
              <a:ea typeface="Fira Sans Bold"/>
              <a:cs typeface="Fira Sans Bold"/>
              <a:sym typeface="Fira Sans Bold"/>
            </a:endParaRPr>
          </a:p>
          <a:p>
            <a:pPr algn="l">
              <a:lnSpc>
                <a:spcPts val="3649"/>
              </a:lnSpc>
              <a:spcBef>
                <a:spcPct val="0"/>
              </a:spcBef>
            </a:pPr>
            <a:r>
              <a:rPr lang="en-US" b="1" dirty="0" err="1">
                <a:solidFill>
                  <a:srgbClr val="FFFFFF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Лид</a:t>
            </a:r>
            <a:r>
              <a:rPr lang="en-US" b="1" dirty="0">
                <a:solidFill>
                  <a:srgbClr val="FFFFFF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 → </a:t>
            </a:r>
            <a:r>
              <a:rPr lang="en-US" dirty="0" err="1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Квалифицированный</a:t>
            </a:r>
            <a:r>
              <a:rPr lang="en-US" dirty="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лид</a:t>
            </a:r>
            <a:r>
              <a:rPr lang="en-US" dirty="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: 40%</a:t>
            </a:r>
          </a:p>
          <a:p>
            <a:pPr algn="l">
              <a:lnSpc>
                <a:spcPts val="3649"/>
              </a:lnSpc>
              <a:spcBef>
                <a:spcPct val="0"/>
              </a:spcBef>
            </a:pPr>
            <a:r>
              <a:rPr lang="en-US" b="1" dirty="0" err="1">
                <a:solidFill>
                  <a:srgbClr val="FFFFFF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Квалифицированный</a:t>
            </a:r>
            <a:r>
              <a:rPr lang="en-US" b="1" dirty="0">
                <a:solidFill>
                  <a:srgbClr val="FFFFFF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 </a:t>
            </a:r>
            <a:r>
              <a:rPr lang="en-US" b="1" dirty="0" err="1">
                <a:solidFill>
                  <a:srgbClr val="FFFFFF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лид</a:t>
            </a:r>
            <a:r>
              <a:rPr lang="en-US" b="1" dirty="0">
                <a:solidFill>
                  <a:srgbClr val="FFFFFF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 → </a:t>
            </a:r>
            <a:r>
              <a:rPr lang="en-US" dirty="0" err="1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Демо</a:t>
            </a:r>
            <a:r>
              <a:rPr lang="en-US" dirty="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: 20%</a:t>
            </a:r>
          </a:p>
          <a:p>
            <a:pPr algn="l">
              <a:lnSpc>
                <a:spcPts val="3649"/>
              </a:lnSpc>
              <a:spcBef>
                <a:spcPct val="0"/>
              </a:spcBef>
            </a:pPr>
            <a:r>
              <a:rPr lang="en-US" b="1" dirty="0" err="1">
                <a:solidFill>
                  <a:srgbClr val="FFFFFF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Демо</a:t>
            </a:r>
            <a:r>
              <a:rPr lang="en-US" b="1" dirty="0">
                <a:solidFill>
                  <a:srgbClr val="FFFFFF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 → </a:t>
            </a:r>
            <a:r>
              <a:rPr lang="en-US" dirty="0" err="1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Продажа</a:t>
            </a:r>
            <a:r>
              <a:rPr lang="en-US" dirty="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: 10%</a:t>
            </a:r>
          </a:p>
          <a:p>
            <a:pPr algn="l">
              <a:lnSpc>
                <a:spcPts val="3649"/>
              </a:lnSpc>
              <a:spcBef>
                <a:spcPct val="0"/>
              </a:spcBef>
            </a:pPr>
            <a:r>
              <a:rPr lang="en-US" b="1" dirty="0" err="1">
                <a:solidFill>
                  <a:srgbClr val="FFFFFF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Общая</a:t>
            </a:r>
            <a:r>
              <a:rPr lang="en-US" b="1" dirty="0">
                <a:solidFill>
                  <a:srgbClr val="FFFFFF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 </a:t>
            </a:r>
            <a:r>
              <a:rPr lang="en-US" b="1" dirty="0" err="1">
                <a:solidFill>
                  <a:srgbClr val="FFFFFF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конверсия</a:t>
            </a:r>
            <a:r>
              <a:rPr lang="en-US" b="1" dirty="0">
                <a:solidFill>
                  <a:srgbClr val="FFFFFF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: 10%</a:t>
            </a:r>
          </a:p>
        </p:txBody>
      </p:sp>
      <p:sp>
        <p:nvSpPr>
          <p:cNvPr id="8" name="TextBox 17">
            <a:extLst>
              <a:ext uri="{FF2B5EF4-FFF2-40B4-BE49-F238E27FC236}">
                <a16:creationId xmlns:a16="http://schemas.microsoft.com/office/drawing/2014/main" id="{871232C0-079D-4945-BCA0-EC2DF4AA9627}"/>
              </a:ext>
            </a:extLst>
          </p:cNvPr>
          <p:cNvSpPr txBox="1"/>
          <p:nvPr/>
        </p:nvSpPr>
        <p:spPr>
          <a:xfrm>
            <a:off x="1333113" y="5044609"/>
            <a:ext cx="4442045" cy="12037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  <a:spcBef>
                <a:spcPct val="0"/>
              </a:spcBef>
            </a:pPr>
            <a:r>
              <a:rPr lang="en-US" b="1" dirty="0" err="1">
                <a:solidFill>
                  <a:srgbClr val="FFFFFF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Экономика</a:t>
            </a:r>
            <a:endParaRPr lang="en-US" b="1" dirty="0">
              <a:solidFill>
                <a:srgbClr val="FFFFFF"/>
              </a:solidFill>
              <a:latin typeface="Fira Sans Bold"/>
              <a:ea typeface="Fira Sans Bold"/>
              <a:cs typeface="Fira Sans Bold"/>
              <a:sym typeface="Fira Sans Bold"/>
            </a:endParaRPr>
          </a:p>
          <a:p>
            <a:pPr algn="l">
              <a:lnSpc>
                <a:spcPct val="150000"/>
              </a:lnSpc>
              <a:spcBef>
                <a:spcPct val="0"/>
              </a:spcBef>
            </a:pPr>
            <a:r>
              <a:rPr lang="en-US" b="1" dirty="0">
                <a:solidFill>
                  <a:srgbClr val="FFFFFF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LTV/CAC = 4.16 (</a:t>
            </a:r>
            <a:r>
              <a:rPr lang="en-US" b="1" dirty="0" err="1">
                <a:solidFill>
                  <a:srgbClr val="FFFFFF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здоровая</a:t>
            </a:r>
            <a:r>
              <a:rPr lang="en-US" b="1" dirty="0">
                <a:solidFill>
                  <a:srgbClr val="FFFFFF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 </a:t>
            </a:r>
            <a:r>
              <a:rPr lang="en-US" b="1" dirty="0" err="1">
                <a:solidFill>
                  <a:srgbClr val="FFFFFF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модель</a:t>
            </a:r>
            <a:r>
              <a:rPr lang="en-US" b="1" dirty="0">
                <a:solidFill>
                  <a:srgbClr val="FFFFFF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)</a:t>
            </a:r>
          </a:p>
          <a:p>
            <a:pPr algn="l">
              <a:lnSpc>
                <a:spcPct val="150000"/>
              </a:lnSpc>
              <a:spcBef>
                <a:spcPct val="0"/>
              </a:spcBef>
            </a:pPr>
            <a:r>
              <a:rPr lang="en-US" b="1" dirty="0" err="1">
                <a:solidFill>
                  <a:srgbClr val="FFFFFF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Окупаемость</a:t>
            </a:r>
            <a:r>
              <a:rPr lang="en-US" b="1" dirty="0">
                <a:solidFill>
                  <a:srgbClr val="FFFFFF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: &lt; 4 </a:t>
            </a:r>
            <a:r>
              <a:rPr lang="en-US" b="1" dirty="0" err="1">
                <a:solidFill>
                  <a:srgbClr val="FFFFFF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месяцев</a:t>
            </a:r>
            <a:r>
              <a:rPr lang="ru-RU" b="1" dirty="0">
                <a:solidFill>
                  <a:srgbClr val="FFFFFF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с</a:t>
            </a:r>
            <a:endParaRPr lang="en-US" b="1" dirty="0">
              <a:solidFill>
                <a:srgbClr val="FFFFFF"/>
              </a:solidFill>
              <a:latin typeface="Fira Sans Bold"/>
              <a:ea typeface="Fira Sans Bold"/>
              <a:cs typeface="Fira Sans Bold"/>
              <a:sym typeface="Fira Sans Bold"/>
            </a:endParaRPr>
          </a:p>
        </p:txBody>
      </p:sp>
    </p:spTree>
    <p:extLst>
      <p:ext uri="{BB962C8B-B14F-4D97-AF65-F5344CB8AC3E}">
        <p14:creationId xmlns:p14="http://schemas.microsoft.com/office/powerpoint/2010/main" val="11476305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21DC59-923F-4682-8737-141594B59E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0"/>
            <a:ext cx="11217441" cy="1456267"/>
          </a:xfrm>
        </p:spPr>
        <p:txBody>
          <a:bodyPr>
            <a:noAutofit/>
          </a:bodyPr>
          <a:lstStyle/>
          <a:p>
            <a:r>
              <a:rPr lang="ru-RU" sz="6000" dirty="0"/>
              <a:t>Стратегия выхода на рынок</a:t>
            </a:r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08B5D772-099E-4767-9B0F-690D5562E653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85800" y="2141538"/>
            <a:ext cx="10131425" cy="4337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b="1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1. </a:t>
            </a:r>
            <a:r>
              <a:rPr lang="en-US" b="1" dirty="0" err="1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Муниципальный</a:t>
            </a:r>
            <a:r>
              <a:rPr lang="en-US" b="1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 </a:t>
            </a:r>
            <a:r>
              <a:rPr lang="en-US" b="1" dirty="0" err="1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пилот</a:t>
            </a:r>
            <a:r>
              <a:rPr lang="en-US" b="1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.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- </a:t>
            </a:r>
            <a:r>
              <a:rPr lang="en-US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Нужно</a:t>
            </a:r>
            <a:r>
              <a:rPr lang="en-US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</a:t>
            </a:r>
            <a:r>
              <a:rPr lang="en-US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выйти</a:t>
            </a:r>
            <a:r>
              <a:rPr lang="en-US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</a:t>
            </a:r>
            <a:r>
              <a:rPr lang="en-US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на</a:t>
            </a:r>
            <a:r>
              <a:rPr lang="en-US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</a:t>
            </a:r>
            <a:r>
              <a:rPr lang="en-US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администрацию</a:t>
            </a:r>
            <a:r>
              <a:rPr lang="en-US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</a:t>
            </a:r>
            <a:r>
              <a:rPr lang="en-US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города</a:t>
            </a:r>
            <a:r>
              <a:rPr lang="en-US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с </a:t>
            </a:r>
            <a:r>
              <a:rPr lang="en-US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предложением</a:t>
            </a:r>
            <a:r>
              <a:rPr lang="en-US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</a:t>
            </a:r>
            <a:r>
              <a:rPr lang="en-US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установки</a:t>
            </a:r>
            <a:r>
              <a:rPr lang="en-US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</a:t>
            </a:r>
            <a:r>
              <a:rPr lang="en-US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системы</a:t>
            </a:r>
            <a:r>
              <a:rPr lang="en-US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</a:t>
            </a:r>
            <a:r>
              <a:rPr lang="en-US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бесплатно</a:t>
            </a:r>
            <a:r>
              <a:rPr lang="en-US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в </a:t>
            </a:r>
            <a:r>
              <a:rPr lang="en-US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обмен</a:t>
            </a:r>
            <a:r>
              <a:rPr lang="en-US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</a:t>
            </a:r>
            <a:r>
              <a:rPr lang="en-US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на</a:t>
            </a:r>
            <a:r>
              <a:rPr lang="en-US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</a:t>
            </a:r>
            <a:r>
              <a:rPr lang="en-US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данные</a:t>
            </a:r>
            <a:r>
              <a:rPr lang="en-US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, </a:t>
            </a:r>
            <a:r>
              <a:rPr lang="en-US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видео</a:t>
            </a:r>
            <a:r>
              <a:rPr lang="en-US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</a:t>
            </a:r>
            <a:r>
              <a:rPr lang="en-US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отзывы</a:t>
            </a:r>
            <a:r>
              <a:rPr lang="en-US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и </a:t>
            </a:r>
            <a:r>
              <a:rPr lang="en-US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рекомендации</a:t>
            </a:r>
            <a:r>
              <a:rPr lang="en-US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.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b="1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2. </a:t>
            </a:r>
            <a:r>
              <a:rPr lang="en-US" b="1" dirty="0" err="1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Бесплатная</a:t>
            </a:r>
            <a:r>
              <a:rPr lang="en-US" b="1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 </a:t>
            </a:r>
            <a:r>
              <a:rPr lang="en-US" b="1" dirty="0" err="1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установка</a:t>
            </a:r>
            <a:r>
              <a:rPr lang="en-US" b="1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.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- </a:t>
            </a:r>
            <a:r>
              <a:rPr lang="en-US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Суть</a:t>
            </a:r>
            <a:r>
              <a:rPr lang="en-US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</a:t>
            </a:r>
            <a:r>
              <a:rPr lang="en-US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та</a:t>
            </a:r>
            <a:r>
              <a:rPr lang="en-US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</a:t>
            </a:r>
            <a:r>
              <a:rPr lang="en-US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же</a:t>
            </a:r>
            <a:r>
              <a:rPr lang="en-US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, </a:t>
            </a:r>
            <a:r>
              <a:rPr lang="en-US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но</a:t>
            </a:r>
            <a:r>
              <a:rPr lang="en-US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</a:t>
            </a:r>
            <a:r>
              <a:rPr lang="en-US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клиенты</a:t>
            </a:r>
            <a:r>
              <a:rPr lang="en-US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</a:t>
            </a:r>
            <a:r>
              <a:rPr lang="en-US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не</a:t>
            </a:r>
            <a:r>
              <a:rPr lang="en-US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</a:t>
            </a:r>
            <a:r>
              <a:rPr lang="en-US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муниципальные</a:t>
            </a:r>
            <a:r>
              <a:rPr lang="en-US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</a:t>
            </a:r>
            <a:r>
              <a:rPr lang="en-US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учреждения</a:t>
            </a:r>
            <a:r>
              <a:rPr lang="en-US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, а </a:t>
            </a:r>
            <a:r>
              <a:rPr lang="en-US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компании</a:t>
            </a:r>
            <a:r>
              <a:rPr lang="en-US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.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b="1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3. </a:t>
            </a:r>
            <a:r>
              <a:rPr lang="en-US" b="1" dirty="0" err="1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Партнёрства</a:t>
            </a:r>
            <a:r>
              <a:rPr lang="en-US" b="1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 с </a:t>
            </a:r>
            <a:r>
              <a:rPr lang="en-US" b="1" dirty="0" err="1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уже</a:t>
            </a:r>
            <a:r>
              <a:rPr lang="en-US" b="1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 </a:t>
            </a:r>
            <a:r>
              <a:rPr lang="en-US" b="1" dirty="0" err="1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существующими</a:t>
            </a:r>
            <a:r>
              <a:rPr lang="en-US" b="1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 </a:t>
            </a:r>
            <a:r>
              <a:rPr lang="en-US" b="1" dirty="0" err="1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бизнесами</a:t>
            </a:r>
            <a:r>
              <a:rPr lang="en-US" b="1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.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- </a:t>
            </a:r>
            <a:r>
              <a:rPr lang="en-US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Суть</a:t>
            </a:r>
            <a:r>
              <a:rPr lang="en-US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в </a:t>
            </a:r>
            <a:r>
              <a:rPr lang="en-US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объедение</a:t>
            </a:r>
            <a:r>
              <a:rPr lang="en-US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с </a:t>
            </a:r>
            <a:r>
              <a:rPr lang="en-US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компаниями</a:t>
            </a:r>
            <a:r>
              <a:rPr lang="en-US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, </a:t>
            </a:r>
            <a:r>
              <a:rPr lang="en-US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которые</a:t>
            </a:r>
            <a:r>
              <a:rPr lang="en-US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</a:t>
            </a:r>
            <a:r>
              <a:rPr lang="en-US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устанавливают</a:t>
            </a:r>
            <a:r>
              <a:rPr lang="en-US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</a:t>
            </a:r>
            <a:r>
              <a:rPr lang="en-US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камеры</a:t>
            </a:r>
            <a:r>
              <a:rPr lang="en-US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, </a:t>
            </a:r>
            <a:r>
              <a:rPr lang="en-US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предоставляя</a:t>
            </a:r>
            <a:r>
              <a:rPr lang="en-US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</a:t>
            </a:r>
            <a:r>
              <a:rPr lang="en-US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бесплатный</a:t>
            </a:r>
            <a:r>
              <a:rPr lang="en-US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</a:t>
            </a:r>
            <a:r>
              <a:rPr lang="en-US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пробный</a:t>
            </a:r>
            <a:r>
              <a:rPr lang="en-US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</a:t>
            </a:r>
            <a:r>
              <a:rPr lang="en-US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период</a:t>
            </a:r>
            <a:r>
              <a:rPr lang="en-US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</a:t>
            </a:r>
            <a:r>
              <a:rPr lang="en-US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нашего</a:t>
            </a:r>
            <a:r>
              <a:rPr lang="en-US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</a:t>
            </a:r>
            <a:r>
              <a:rPr lang="en-US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продукта</a:t>
            </a:r>
            <a:r>
              <a:rPr lang="en-US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. </a:t>
            </a:r>
            <a:r>
              <a:rPr lang="en-US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Или</a:t>
            </a:r>
            <a:r>
              <a:rPr lang="en-US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с </a:t>
            </a:r>
            <a:r>
              <a:rPr lang="en-US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компаниями</a:t>
            </a:r>
            <a:r>
              <a:rPr lang="en-US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, </a:t>
            </a:r>
            <a:r>
              <a:rPr lang="en-US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которые</a:t>
            </a:r>
            <a:r>
              <a:rPr lang="en-US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</a:t>
            </a:r>
            <a:r>
              <a:rPr lang="en-US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занимающиеся</a:t>
            </a:r>
            <a:r>
              <a:rPr lang="en-US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</a:t>
            </a:r>
            <a:r>
              <a:rPr lang="en-US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системами</a:t>
            </a:r>
            <a:r>
              <a:rPr lang="en-US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</a:t>
            </a:r>
            <a:r>
              <a:rPr lang="en-US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видеонаблюдения</a:t>
            </a:r>
            <a:r>
              <a:rPr lang="en-US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, </a:t>
            </a:r>
            <a:r>
              <a:rPr lang="en-US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но</a:t>
            </a:r>
            <a:r>
              <a:rPr lang="en-US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</a:t>
            </a:r>
            <a:r>
              <a:rPr lang="en-US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без</a:t>
            </a:r>
            <a:r>
              <a:rPr lang="en-US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</a:t>
            </a:r>
            <a:r>
              <a:rPr lang="en-US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умных</a:t>
            </a:r>
            <a:r>
              <a:rPr lang="en-US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</a:t>
            </a:r>
            <a:r>
              <a:rPr lang="en-US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систем</a:t>
            </a:r>
            <a:r>
              <a:rPr lang="en-US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с </a:t>
            </a:r>
            <a:r>
              <a:rPr lang="en-US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также</a:t>
            </a:r>
            <a:r>
              <a:rPr lang="en-US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</a:t>
            </a:r>
            <a:r>
              <a:rPr lang="en-US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бесплатным</a:t>
            </a:r>
            <a:r>
              <a:rPr lang="en-US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</a:t>
            </a:r>
            <a:r>
              <a:rPr lang="en-US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пробный</a:t>
            </a:r>
            <a:r>
              <a:rPr lang="en-US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 </a:t>
            </a:r>
            <a:r>
              <a:rPr lang="en-US" dirty="0" err="1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периодом</a:t>
            </a:r>
            <a:r>
              <a:rPr lang="en-US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066643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9D4A2A-8511-4C21-9C27-0ED9F1C81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7200" dirty="0"/>
              <a:t> </a:t>
            </a:r>
            <a:r>
              <a:rPr lang="en-US" sz="7200" dirty="0"/>
              <a:t>Traction</a:t>
            </a:r>
            <a:endParaRPr lang="ru-RU" sz="7200" dirty="0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F1791135-AD85-43A4-8694-98D7EDAAA67E}"/>
              </a:ext>
            </a:extLst>
          </p:cNvPr>
          <p:cNvSpPr/>
          <p:nvPr/>
        </p:nvSpPr>
        <p:spPr>
          <a:xfrm>
            <a:off x="685801" y="2745025"/>
            <a:ext cx="10922668" cy="2375681"/>
          </a:xfrm>
          <a:custGeom>
            <a:avLst/>
            <a:gdLst/>
            <a:ahLst/>
            <a:cxnLst/>
            <a:rect l="l" t="t" r="r" b="b"/>
            <a:pathLst>
              <a:path w="16230600" h="3530156">
                <a:moveTo>
                  <a:pt x="0" y="0"/>
                </a:moveTo>
                <a:lnTo>
                  <a:pt x="16230600" y="0"/>
                </a:lnTo>
                <a:lnTo>
                  <a:pt x="16230600" y="3530155"/>
                </a:lnTo>
                <a:lnTo>
                  <a:pt x="0" y="35301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24648462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E8ACAF-DACA-4640-B13C-2841F5627F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7675" y="673768"/>
            <a:ext cx="5698957" cy="3224464"/>
          </a:xfrm>
        </p:spPr>
        <p:txBody>
          <a:bodyPr>
            <a:noAutofit/>
          </a:bodyPr>
          <a:lstStyle/>
          <a:p>
            <a:r>
              <a:rPr lang="ru-RU" sz="7200" dirty="0"/>
              <a:t>Анализ рисков проекта</a:t>
            </a:r>
          </a:p>
        </p:txBody>
      </p:sp>
      <p:sp>
        <p:nvSpPr>
          <p:cNvPr id="5" name="Freeform 8">
            <a:extLst>
              <a:ext uri="{FF2B5EF4-FFF2-40B4-BE49-F238E27FC236}">
                <a16:creationId xmlns:a16="http://schemas.microsoft.com/office/drawing/2014/main" id="{C5715A7F-330D-4C1B-B386-A7404EA20452}"/>
              </a:ext>
            </a:extLst>
          </p:cNvPr>
          <p:cNvSpPr/>
          <p:nvPr/>
        </p:nvSpPr>
        <p:spPr>
          <a:xfrm>
            <a:off x="5641485" y="238126"/>
            <a:ext cx="5912840" cy="6690624"/>
          </a:xfrm>
          <a:custGeom>
            <a:avLst/>
            <a:gdLst/>
            <a:ahLst/>
            <a:cxnLst/>
            <a:rect l="l" t="t" r="r" b="b"/>
            <a:pathLst>
              <a:path w="9400743" h="10637333">
                <a:moveTo>
                  <a:pt x="0" y="0"/>
                </a:moveTo>
                <a:lnTo>
                  <a:pt x="9400743" y="0"/>
                </a:lnTo>
                <a:lnTo>
                  <a:pt x="9400743" y="10637333"/>
                </a:lnTo>
                <a:lnTo>
                  <a:pt x="0" y="106373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35805712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7117B3-9457-4B56-BE5D-993FD5AB1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7200" dirty="0"/>
              <a:t>Команда</a:t>
            </a:r>
          </a:p>
        </p:txBody>
      </p:sp>
      <p:sp>
        <p:nvSpPr>
          <p:cNvPr id="20" name="Freeform 13">
            <a:extLst>
              <a:ext uri="{FF2B5EF4-FFF2-40B4-BE49-F238E27FC236}">
                <a16:creationId xmlns:a16="http://schemas.microsoft.com/office/drawing/2014/main" id="{D899FE36-0D59-47C6-B6C3-0FE2F915C76B}"/>
              </a:ext>
            </a:extLst>
          </p:cNvPr>
          <p:cNvSpPr/>
          <p:nvPr/>
        </p:nvSpPr>
        <p:spPr>
          <a:xfrm>
            <a:off x="150068" y="2569856"/>
            <a:ext cx="2403301" cy="2366115"/>
          </a:xfrm>
          <a:custGeom>
            <a:avLst/>
            <a:gdLst/>
            <a:ahLst/>
            <a:cxnLst/>
            <a:rect l="l" t="t" r="r" b="b"/>
            <a:pathLst>
              <a:path w="6488430" h="6027420">
                <a:moveTo>
                  <a:pt x="5344160" y="1055370"/>
                </a:moveTo>
                <a:cubicBezTo>
                  <a:pt x="4573270" y="651510"/>
                  <a:pt x="3856990" y="1112520"/>
                  <a:pt x="3284220" y="1112520"/>
                </a:cubicBezTo>
                <a:cubicBezTo>
                  <a:pt x="2839720" y="1112520"/>
                  <a:pt x="2001520" y="0"/>
                  <a:pt x="1000760" y="1314450"/>
                </a:cubicBezTo>
                <a:cubicBezTo>
                  <a:pt x="0" y="2628900"/>
                  <a:pt x="1247140" y="3865880"/>
                  <a:pt x="2368550" y="4946650"/>
                </a:cubicBezTo>
                <a:cubicBezTo>
                  <a:pt x="3489960" y="6027420"/>
                  <a:pt x="5013960" y="6009640"/>
                  <a:pt x="5894070" y="4725670"/>
                </a:cubicBezTo>
                <a:cubicBezTo>
                  <a:pt x="6488430" y="3859530"/>
                  <a:pt x="6229350" y="1520190"/>
                  <a:pt x="5344160" y="1055370"/>
                </a:cubicBezTo>
                <a:close/>
              </a:path>
            </a:pathLst>
          </a:custGeom>
          <a:blipFill>
            <a:blip r:embed="rId2"/>
            <a:stretch>
              <a:fillRect t="-32893" b="-32893"/>
            </a:stretch>
          </a:blipFill>
        </p:spPr>
        <p:txBody>
          <a:bodyPr/>
          <a:lstStyle/>
          <a:p>
            <a:endParaRPr lang="ru-RU" dirty="0"/>
          </a:p>
        </p:txBody>
      </p:sp>
      <p:grpSp>
        <p:nvGrpSpPr>
          <p:cNvPr id="21" name="Group 14">
            <a:extLst>
              <a:ext uri="{FF2B5EF4-FFF2-40B4-BE49-F238E27FC236}">
                <a16:creationId xmlns:a16="http://schemas.microsoft.com/office/drawing/2014/main" id="{EC311274-3BE1-42BE-BF01-6D2933DE21D7}"/>
              </a:ext>
            </a:extLst>
          </p:cNvPr>
          <p:cNvGrpSpPr>
            <a:grpSpLocks noChangeAspect="1"/>
          </p:cNvGrpSpPr>
          <p:nvPr/>
        </p:nvGrpSpPr>
        <p:grpSpPr>
          <a:xfrm>
            <a:off x="2755740" y="2923221"/>
            <a:ext cx="2190625" cy="1983229"/>
            <a:chOff x="0" y="0"/>
            <a:chExt cx="5580380" cy="5052060"/>
          </a:xfrm>
        </p:grpSpPr>
        <p:sp>
          <p:nvSpPr>
            <p:cNvPr id="22" name="Freeform 15">
              <a:extLst>
                <a:ext uri="{FF2B5EF4-FFF2-40B4-BE49-F238E27FC236}">
                  <a16:creationId xmlns:a16="http://schemas.microsoft.com/office/drawing/2014/main" id="{B7B06068-82D2-41B6-91C8-BE776077C0D2}"/>
                </a:ext>
              </a:extLst>
            </p:cNvPr>
            <p:cNvSpPr/>
            <p:nvPr/>
          </p:nvSpPr>
          <p:spPr>
            <a:xfrm>
              <a:off x="-635000" y="-673100"/>
              <a:ext cx="6488430" cy="6027420"/>
            </a:xfrm>
            <a:custGeom>
              <a:avLst/>
              <a:gdLst/>
              <a:ahLst/>
              <a:cxnLst/>
              <a:rect l="l" t="t" r="r" b="b"/>
              <a:pathLst>
                <a:path w="6488430" h="6027420">
                  <a:moveTo>
                    <a:pt x="5344160" y="1055370"/>
                  </a:moveTo>
                  <a:cubicBezTo>
                    <a:pt x="4573270" y="651510"/>
                    <a:pt x="3856990" y="1112520"/>
                    <a:pt x="3284220" y="1112520"/>
                  </a:cubicBezTo>
                  <a:cubicBezTo>
                    <a:pt x="2839720" y="1112520"/>
                    <a:pt x="2001520" y="0"/>
                    <a:pt x="1000760" y="1314450"/>
                  </a:cubicBezTo>
                  <a:cubicBezTo>
                    <a:pt x="0" y="2628900"/>
                    <a:pt x="1247140" y="3865880"/>
                    <a:pt x="2368550" y="4946650"/>
                  </a:cubicBezTo>
                  <a:cubicBezTo>
                    <a:pt x="3489960" y="6027420"/>
                    <a:pt x="5013960" y="6009640"/>
                    <a:pt x="5894070" y="4725670"/>
                  </a:cubicBezTo>
                  <a:cubicBezTo>
                    <a:pt x="6488430" y="3859530"/>
                    <a:pt x="6229350" y="1520190"/>
                    <a:pt x="5344160" y="1055370"/>
                  </a:cubicBezTo>
                  <a:close/>
                </a:path>
              </a:pathLst>
            </a:custGeom>
            <a:blipFill>
              <a:blip r:embed="rId3"/>
              <a:stretch>
                <a:fillRect t="-23636" b="-23636"/>
              </a:stretch>
            </a:blipFill>
          </p:spPr>
        </p:sp>
      </p:grpSp>
      <p:grpSp>
        <p:nvGrpSpPr>
          <p:cNvPr id="23" name="Group 16">
            <a:extLst>
              <a:ext uri="{FF2B5EF4-FFF2-40B4-BE49-F238E27FC236}">
                <a16:creationId xmlns:a16="http://schemas.microsoft.com/office/drawing/2014/main" id="{B62BCE22-DE82-4FC9-8FB5-2E4B52F32449}"/>
              </a:ext>
            </a:extLst>
          </p:cNvPr>
          <p:cNvGrpSpPr>
            <a:grpSpLocks noChangeAspect="1"/>
          </p:cNvGrpSpPr>
          <p:nvPr/>
        </p:nvGrpSpPr>
        <p:grpSpPr>
          <a:xfrm>
            <a:off x="5177388" y="2986790"/>
            <a:ext cx="2066961" cy="1871273"/>
            <a:chOff x="0" y="0"/>
            <a:chExt cx="5580380" cy="5052060"/>
          </a:xfrm>
        </p:grpSpPr>
        <p:sp>
          <p:nvSpPr>
            <p:cNvPr id="24" name="Freeform 17">
              <a:extLst>
                <a:ext uri="{FF2B5EF4-FFF2-40B4-BE49-F238E27FC236}">
                  <a16:creationId xmlns:a16="http://schemas.microsoft.com/office/drawing/2014/main" id="{BA43087A-79B7-410B-913E-5C86C8F54492}"/>
                </a:ext>
              </a:extLst>
            </p:cNvPr>
            <p:cNvSpPr/>
            <p:nvPr/>
          </p:nvSpPr>
          <p:spPr>
            <a:xfrm>
              <a:off x="-635000" y="-673100"/>
              <a:ext cx="6488430" cy="6027420"/>
            </a:xfrm>
            <a:custGeom>
              <a:avLst/>
              <a:gdLst/>
              <a:ahLst/>
              <a:cxnLst/>
              <a:rect l="l" t="t" r="r" b="b"/>
              <a:pathLst>
                <a:path w="6488430" h="6027420">
                  <a:moveTo>
                    <a:pt x="5344160" y="1055370"/>
                  </a:moveTo>
                  <a:cubicBezTo>
                    <a:pt x="4573270" y="651510"/>
                    <a:pt x="3856990" y="1112520"/>
                    <a:pt x="3284220" y="1112520"/>
                  </a:cubicBezTo>
                  <a:cubicBezTo>
                    <a:pt x="2839720" y="1112520"/>
                    <a:pt x="2001520" y="0"/>
                    <a:pt x="1000760" y="1314450"/>
                  </a:cubicBezTo>
                  <a:cubicBezTo>
                    <a:pt x="0" y="2628900"/>
                    <a:pt x="1247140" y="3865880"/>
                    <a:pt x="2368550" y="4946650"/>
                  </a:cubicBezTo>
                  <a:cubicBezTo>
                    <a:pt x="3489960" y="6027420"/>
                    <a:pt x="5013960" y="6009640"/>
                    <a:pt x="5894070" y="4725670"/>
                  </a:cubicBezTo>
                  <a:cubicBezTo>
                    <a:pt x="6488430" y="3859530"/>
                    <a:pt x="6229350" y="1520190"/>
                    <a:pt x="5344160" y="1055370"/>
                  </a:cubicBezTo>
                  <a:close/>
                </a:path>
              </a:pathLst>
            </a:custGeom>
            <a:blipFill>
              <a:blip r:embed="rId4"/>
              <a:stretch>
                <a:fillRect l="-52298" r="-52298"/>
              </a:stretch>
            </a:blipFill>
          </p:spPr>
        </p:sp>
      </p:grpSp>
      <p:grpSp>
        <p:nvGrpSpPr>
          <p:cNvPr id="25" name="Group 10">
            <a:extLst>
              <a:ext uri="{FF2B5EF4-FFF2-40B4-BE49-F238E27FC236}">
                <a16:creationId xmlns:a16="http://schemas.microsoft.com/office/drawing/2014/main" id="{56FA78C5-427E-438F-B4E1-2FE0C5B364D3}"/>
              </a:ext>
            </a:extLst>
          </p:cNvPr>
          <p:cNvGrpSpPr>
            <a:grpSpLocks noChangeAspect="1"/>
          </p:cNvGrpSpPr>
          <p:nvPr/>
        </p:nvGrpSpPr>
        <p:grpSpPr>
          <a:xfrm>
            <a:off x="7364222" y="2896834"/>
            <a:ext cx="2113963" cy="1913825"/>
            <a:chOff x="0" y="0"/>
            <a:chExt cx="5580380" cy="5052060"/>
          </a:xfrm>
        </p:grpSpPr>
        <p:sp>
          <p:nvSpPr>
            <p:cNvPr id="26" name="Freeform 11">
              <a:extLst>
                <a:ext uri="{FF2B5EF4-FFF2-40B4-BE49-F238E27FC236}">
                  <a16:creationId xmlns:a16="http://schemas.microsoft.com/office/drawing/2014/main" id="{7C33EB90-072E-4FAD-A139-5282556CB02E}"/>
                </a:ext>
              </a:extLst>
            </p:cNvPr>
            <p:cNvSpPr/>
            <p:nvPr/>
          </p:nvSpPr>
          <p:spPr>
            <a:xfrm>
              <a:off x="-635000" y="-673100"/>
              <a:ext cx="6488430" cy="6027420"/>
            </a:xfrm>
            <a:custGeom>
              <a:avLst/>
              <a:gdLst/>
              <a:ahLst/>
              <a:cxnLst/>
              <a:rect l="l" t="t" r="r" b="b"/>
              <a:pathLst>
                <a:path w="6488430" h="6027420">
                  <a:moveTo>
                    <a:pt x="5344160" y="1055370"/>
                  </a:moveTo>
                  <a:cubicBezTo>
                    <a:pt x="4573270" y="651510"/>
                    <a:pt x="3856990" y="1112520"/>
                    <a:pt x="3284220" y="1112520"/>
                  </a:cubicBezTo>
                  <a:cubicBezTo>
                    <a:pt x="2839720" y="1112520"/>
                    <a:pt x="2001520" y="0"/>
                    <a:pt x="1000760" y="1314450"/>
                  </a:cubicBezTo>
                  <a:cubicBezTo>
                    <a:pt x="0" y="2628900"/>
                    <a:pt x="1247140" y="3865880"/>
                    <a:pt x="2368550" y="4946650"/>
                  </a:cubicBezTo>
                  <a:cubicBezTo>
                    <a:pt x="3489960" y="6027420"/>
                    <a:pt x="5013960" y="6009640"/>
                    <a:pt x="5894070" y="4725670"/>
                  </a:cubicBezTo>
                  <a:cubicBezTo>
                    <a:pt x="6488430" y="3859530"/>
                    <a:pt x="6229350" y="1520190"/>
                    <a:pt x="5344160" y="1055370"/>
                  </a:cubicBezTo>
                  <a:close/>
                </a:path>
              </a:pathLst>
            </a:custGeom>
            <a:blipFill>
              <a:blip r:embed="rId5"/>
              <a:stretch>
                <a:fillRect t="-5227" b="-5227"/>
              </a:stretch>
            </a:blipFill>
          </p:spPr>
        </p:sp>
      </p:grpSp>
      <p:grpSp>
        <p:nvGrpSpPr>
          <p:cNvPr id="27" name="Group 8">
            <a:extLst>
              <a:ext uri="{FF2B5EF4-FFF2-40B4-BE49-F238E27FC236}">
                <a16:creationId xmlns:a16="http://schemas.microsoft.com/office/drawing/2014/main" id="{84530BEF-91F9-4CB9-82D5-438DD4CDFDF5}"/>
              </a:ext>
            </a:extLst>
          </p:cNvPr>
          <p:cNvGrpSpPr>
            <a:grpSpLocks noChangeAspect="1"/>
          </p:cNvGrpSpPr>
          <p:nvPr/>
        </p:nvGrpSpPr>
        <p:grpSpPr>
          <a:xfrm>
            <a:off x="9766808" y="2913463"/>
            <a:ext cx="2100835" cy="1901940"/>
            <a:chOff x="0" y="0"/>
            <a:chExt cx="5580380" cy="5052060"/>
          </a:xfrm>
        </p:grpSpPr>
        <p:sp>
          <p:nvSpPr>
            <p:cNvPr id="28" name="Freeform 9">
              <a:extLst>
                <a:ext uri="{FF2B5EF4-FFF2-40B4-BE49-F238E27FC236}">
                  <a16:creationId xmlns:a16="http://schemas.microsoft.com/office/drawing/2014/main" id="{7DC9627D-E9B6-4626-BEA7-4A8D1963D550}"/>
                </a:ext>
              </a:extLst>
            </p:cNvPr>
            <p:cNvSpPr/>
            <p:nvPr/>
          </p:nvSpPr>
          <p:spPr>
            <a:xfrm>
              <a:off x="-635000" y="-673100"/>
              <a:ext cx="6488430" cy="6027420"/>
            </a:xfrm>
            <a:custGeom>
              <a:avLst/>
              <a:gdLst/>
              <a:ahLst/>
              <a:cxnLst/>
              <a:rect l="l" t="t" r="r" b="b"/>
              <a:pathLst>
                <a:path w="6488430" h="6027420">
                  <a:moveTo>
                    <a:pt x="5344160" y="1055370"/>
                  </a:moveTo>
                  <a:cubicBezTo>
                    <a:pt x="4573270" y="651510"/>
                    <a:pt x="3856990" y="1112520"/>
                    <a:pt x="3284220" y="1112520"/>
                  </a:cubicBezTo>
                  <a:cubicBezTo>
                    <a:pt x="2839720" y="1112520"/>
                    <a:pt x="2001520" y="0"/>
                    <a:pt x="1000760" y="1314450"/>
                  </a:cubicBezTo>
                  <a:cubicBezTo>
                    <a:pt x="0" y="2628900"/>
                    <a:pt x="1247140" y="3865880"/>
                    <a:pt x="2368550" y="4946650"/>
                  </a:cubicBezTo>
                  <a:cubicBezTo>
                    <a:pt x="3489960" y="6027420"/>
                    <a:pt x="5013960" y="6009640"/>
                    <a:pt x="5894070" y="4725670"/>
                  </a:cubicBezTo>
                  <a:cubicBezTo>
                    <a:pt x="6488430" y="3859530"/>
                    <a:pt x="6229350" y="1520190"/>
                    <a:pt x="5344160" y="1055370"/>
                  </a:cubicBezTo>
                  <a:close/>
                </a:path>
              </a:pathLst>
            </a:custGeom>
            <a:blipFill>
              <a:blip r:embed="rId6"/>
              <a:stretch>
                <a:fillRect l="-10356" r="-10356"/>
              </a:stretch>
            </a:blipFill>
          </p:spPr>
        </p:sp>
      </p:grpSp>
      <p:grpSp>
        <p:nvGrpSpPr>
          <p:cNvPr id="29" name="Group 24">
            <a:extLst>
              <a:ext uri="{FF2B5EF4-FFF2-40B4-BE49-F238E27FC236}">
                <a16:creationId xmlns:a16="http://schemas.microsoft.com/office/drawing/2014/main" id="{47102131-439E-4C09-B5C0-B7059551DEAB}"/>
              </a:ext>
            </a:extLst>
          </p:cNvPr>
          <p:cNvGrpSpPr/>
          <p:nvPr/>
        </p:nvGrpSpPr>
        <p:grpSpPr>
          <a:xfrm>
            <a:off x="685801" y="5025105"/>
            <a:ext cx="1788477" cy="1437538"/>
            <a:chOff x="0" y="-47625"/>
            <a:chExt cx="3748597" cy="2200400"/>
          </a:xfrm>
        </p:grpSpPr>
        <p:sp>
          <p:nvSpPr>
            <p:cNvPr id="30" name="TextBox 25">
              <a:extLst>
                <a:ext uri="{FF2B5EF4-FFF2-40B4-BE49-F238E27FC236}">
                  <a16:creationId xmlns:a16="http://schemas.microsoft.com/office/drawing/2014/main" id="{22F7E02B-F901-42BE-800F-7E8230AEB869}"/>
                </a:ext>
              </a:extLst>
            </p:cNvPr>
            <p:cNvSpPr txBox="1"/>
            <p:nvPr/>
          </p:nvSpPr>
          <p:spPr>
            <a:xfrm>
              <a:off x="0" y="-47625"/>
              <a:ext cx="3748597" cy="12458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93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FFFFFF"/>
                  </a:solidFill>
                  <a:ea typeface="Fira Sans Bold"/>
                  <a:cs typeface="Fira Sans Bold"/>
                  <a:sym typeface="Fira Sans Bold"/>
                </a:rPr>
                <a:t>СЕРАФИМ ТИМОФЕЕВ</a:t>
              </a:r>
            </a:p>
          </p:txBody>
        </p:sp>
        <p:sp>
          <p:nvSpPr>
            <p:cNvPr id="31" name="TextBox 26">
              <a:extLst>
                <a:ext uri="{FF2B5EF4-FFF2-40B4-BE49-F238E27FC236}">
                  <a16:creationId xmlns:a16="http://schemas.microsoft.com/office/drawing/2014/main" id="{19531586-F002-4C68-B3B0-2EDA9EC8695A}"/>
                </a:ext>
              </a:extLst>
            </p:cNvPr>
            <p:cNvSpPr txBox="1"/>
            <p:nvPr/>
          </p:nvSpPr>
          <p:spPr>
            <a:xfrm>
              <a:off x="0" y="1649537"/>
              <a:ext cx="3748597" cy="50323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215"/>
                </a:lnSpc>
                <a:spcBef>
                  <a:spcPct val="0"/>
                </a:spcBef>
              </a:pPr>
              <a:r>
                <a:rPr lang="en-US" sz="2000" dirty="0" err="1">
                  <a:solidFill>
                    <a:srgbClr val="FFFFFF"/>
                  </a:solidFill>
                  <a:ea typeface="Fira Sans Light"/>
                  <a:cs typeface="Fira Sans Light"/>
                  <a:sym typeface="Fira Sans Light"/>
                </a:rPr>
                <a:t>Менеджер</a:t>
              </a:r>
              <a:endParaRPr lang="en-US" sz="2000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endParaRPr>
            </a:p>
          </p:txBody>
        </p:sp>
      </p:grpSp>
      <p:grpSp>
        <p:nvGrpSpPr>
          <p:cNvPr id="32" name="Group 30">
            <a:extLst>
              <a:ext uri="{FF2B5EF4-FFF2-40B4-BE49-F238E27FC236}">
                <a16:creationId xmlns:a16="http://schemas.microsoft.com/office/drawing/2014/main" id="{E90A4716-06DD-4F34-9356-4EA2579B165C}"/>
              </a:ext>
            </a:extLst>
          </p:cNvPr>
          <p:cNvGrpSpPr/>
          <p:nvPr/>
        </p:nvGrpSpPr>
        <p:grpSpPr>
          <a:xfrm>
            <a:off x="2791067" y="5012785"/>
            <a:ext cx="2237838" cy="1528759"/>
            <a:chOff x="0" y="-57150"/>
            <a:chExt cx="2983785" cy="2408815"/>
          </a:xfrm>
        </p:grpSpPr>
        <p:sp>
          <p:nvSpPr>
            <p:cNvPr id="33" name="TextBox 31">
              <a:extLst>
                <a:ext uri="{FF2B5EF4-FFF2-40B4-BE49-F238E27FC236}">
                  <a16:creationId xmlns:a16="http://schemas.microsoft.com/office/drawing/2014/main" id="{038DF4F1-DE68-4190-80BC-46F4B3151CEF}"/>
                </a:ext>
              </a:extLst>
            </p:cNvPr>
            <p:cNvSpPr txBox="1"/>
            <p:nvPr/>
          </p:nvSpPr>
          <p:spPr>
            <a:xfrm>
              <a:off x="0" y="-57150"/>
              <a:ext cx="2983785" cy="16180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803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FFFFFF"/>
                  </a:solidFill>
                  <a:ea typeface="Fira Sans Bold"/>
                  <a:cs typeface="Fira Sans Bold"/>
                  <a:sym typeface="Fira Sans Bold"/>
                </a:rPr>
                <a:t>ДАМИР АБДРЯХИМОВ</a:t>
              </a:r>
            </a:p>
          </p:txBody>
        </p:sp>
        <p:sp>
          <p:nvSpPr>
            <p:cNvPr id="34" name="TextBox 32">
              <a:extLst>
                <a:ext uri="{FF2B5EF4-FFF2-40B4-BE49-F238E27FC236}">
                  <a16:creationId xmlns:a16="http://schemas.microsoft.com/office/drawing/2014/main" id="{A48EC5AC-9AA9-4284-9442-95B6842D9B90}"/>
                </a:ext>
              </a:extLst>
            </p:cNvPr>
            <p:cNvSpPr txBox="1"/>
            <p:nvPr/>
          </p:nvSpPr>
          <p:spPr>
            <a:xfrm>
              <a:off x="0" y="1671569"/>
              <a:ext cx="2983785" cy="6800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296"/>
                </a:lnSpc>
                <a:spcBef>
                  <a:spcPct val="0"/>
                </a:spcBef>
              </a:pPr>
              <a:r>
                <a:rPr lang="en-US" sz="2000" dirty="0" err="1">
                  <a:solidFill>
                    <a:srgbClr val="FFFFFF"/>
                  </a:solidFill>
                  <a:ea typeface="Fira Sans Light"/>
                  <a:cs typeface="Fira Sans Light"/>
                  <a:sym typeface="Fira Sans Light"/>
                </a:rPr>
                <a:t>Разработчик</a:t>
              </a:r>
              <a:endParaRPr lang="en-US" sz="2000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endParaRPr>
            </a:p>
          </p:txBody>
        </p:sp>
      </p:grpSp>
      <p:grpSp>
        <p:nvGrpSpPr>
          <p:cNvPr id="35" name="Group 27">
            <a:extLst>
              <a:ext uri="{FF2B5EF4-FFF2-40B4-BE49-F238E27FC236}">
                <a16:creationId xmlns:a16="http://schemas.microsoft.com/office/drawing/2014/main" id="{D14FADF3-3FA4-46CD-A678-8D0B7D3362F2}"/>
              </a:ext>
            </a:extLst>
          </p:cNvPr>
          <p:cNvGrpSpPr/>
          <p:nvPr/>
        </p:nvGrpSpPr>
        <p:grpSpPr>
          <a:xfrm>
            <a:off x="5345695" y="5012785"/>
            <a:ext cx="2262611" cy="1449857"/>
            <a:chOff x="0" y="-47625"/>
            <a:chExt cx="3016815" cy="2241882"/>
          </a:xfrm>
        </p:grpSpPr>
        <p:sp>
          <p:nvSpPr>
            <p:cNvPr id="36" name="TextBox 28">
              <a:extLst>
                <a:ext uri="{FF2B5EF4-FFF2-40B4-BE49-F238E27FC236}">
                  <a16:creationId xmlns:a16="http://schemas.microsoft.com/office/drawing/2014/main" id="{CA150565-A357-4010-95BA-20D9CB722F53}"/>
                </a:ext>
              </a:extLst>
            </p:cNvPr>
            <p:cNvSpPr txBox="1"/>
            <p:nvPr/>
          </p:nvSpPr>
          <p:spPr>
            <a:xfrm>
              <a:off x="0" y="-47625"/>
              <a:ext cx="3016815" cy="12593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93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FFFFFF"/>
                  </a:solidFill>
                  <a:ea typeface="Fira Sans Bold"/>
                  <a:cs typeface="Fira Sans Bold"/>
                  <a:sym typeface="Fira Sans Bold"/>
                </a:rPr>
                <a:t>АЛЕКСАНДРА МАЛЫГИНА</a:t>
              </a:r>
            </a:p>
          </p:txBody>
        </p:sp>
        <p:sp>
          <p:nvSpPr>
            <p:cNvPr id="37" name="TextBox 29">
              <a:extLst>
                <a:ext uri="{FF2B5EF4-FFF2-40B4-BE49-F238E27FC236}">
                  <a16:creationId xmlns:a16="http://schemas.microsoft.com/office/drawing/2014/main" id="{78A64A32-9061-4020-8E99-CC348A818A90}"/>
                </a:ext>
              </a:extLst>
            </p:cNvPr>
            <p:cNvSpPr txBox="1"/>
            <p:nvPr/>
          </p:nvSpPr>
          <p:spPr>
            <a:xfrm>
              <a:off x="0" y="1668455"/>
              <a:ext cx="3016815" cy="52580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32"/>
                </a:lnSpc>
                <a:spcBef>
                  <a:spcPct val="0"/>
                </a:spcBef>
              </a:pPr>
              <a:r>
                <a:rPr lang="en-US" sz="2000" dirty="0" err="1">
                  <a:solidFill>
                    <a:srgbClr val="FFFFFF"/>
                  </a:solidFill>
                  <a:ea typeface="Fira Sans Light"/>
                  <a:cs typeface="Fira Sans Light"/>
                  <a:sym typeface="Fira Sans Light"/>
                </a:rPr>
                <a:t>Маркетолог</a:t>
              </a:r>
              <a:endParaRPr lang="en-US" sz="2000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endParaRPr>
            </a:p>
          </p:txBody>
        </p:sp>
      </p:grpSp>
      <p:grpSp>
        <p:nvGrpSpPr>
          <p:cNvPr id="38" name="Group 21">
            <a:extLst>
              <a:ext uri="{FF2B5EF4-FFF2-40B4-BE49-F238E27FC236}">
                <a16:creationId xmlns:a16="http://schemas.microsoft.com/office/drawing/2014/main" id="{3632FB73-BD99-422A-B062-11F8EA355437}"/>
              </a:ext>
            </a:extLst>
          </p:cNvPr>
          <p:cNvGrpSpPr/>
          <p:nvPr/>
        </p:nvGrpSpPr>
        <p:grpSpPr>
          <a:xfrm>
            <a:off x="7572316" y="4993569"/>
            <a:ext cx="1955435" cy="1583694"/>
            <a:chOff x="0" y="-47625"/>
            <a:chExt cx="4235704" cy="2310260"/>
          </a:xfrm>
        </p:grpSpPr>
        <p:sp>
          <p:nvSpPr>
            <p:cNvPr id="39" name="TextBox 22">
              <a:extLst>
                <a:ext uri="{FF2B5EF4-FFF2-40B4-BE49-F238E27FC236}">
                  <a16:creationId xmlns:a16="http://schemas.microsoft.com/office/drawing/2014/main" id="{B071EBF3-0089-4471-9ED0-FC265474EA47}"/>
                </a:ext>
              </a:extLst>
            </p:cNvPr>
            <p:cNvSpPr txBox="1"/>
            <p:nvPr/>
          </p:nvSpPr>
          <p:spPr>
            <a:xfrm>
              <a:off x="0" y="-47625"/>
              <a:ext cx="4235704" cy="12592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91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FFFFFF"/>
                  </a:solidFill>
                  <a:ea typeface="Fira Sans Bold"/>
                  <a:cs typeface="Fira Sans Bold"/>
                  <a:sym typeface="Fira Sans Bold"/>
                </a:rPr>
                <a:t>АНАСТАСИЯ КОКУШКИНА</a:t>
              </a:r>
            </a:p>
          </p:txBody>
        </p:sp>
        <p:sp>
          <p:nvSpPr>
            <p:cNvPr id="40" name="TextBox 23">
              <a:extLst>
                <a:ext uri="{FF2B5EF4-FFF2-40B4-BE49-F238E27FC236}">
                  <a16:creationId xmlns:a16="http://schemas.microsoft.com/office/drawing/2014/main" id="{2782693F-692B-4782-8BF9-7FF29C9EA048}"/>
                </a:ext>
              </a:extLst>
            </p:cNvPr>
            <p:cNvSpPr txBox="1"/>
            <p:nvPr/>
          </p:nvSpPr>
          <p:spPr>
            <a:xfrm>
              <a:off x="0" y="1656593"/>
              <a:ext cx="4235704" cy="6060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285"/>
                </a:lnSpc>
                <a:spcBef>
                  <a:spcPct val="0"/>
                </a:spcBef>
              </a:pPr>
              <a:r>
                <a:rPr lang="en-US" sz="2000" dirty="0" err="1">
                  <a:solidFill>
                    <a:srgbClr val="FFFFFF"/>
                  </a:solidFill>
                  <a:ea typeface="Fira Sans Light"/>
                  <a:cs typeface="Fira Sans Light"/>
                  <a:sym typeface="Fira Sans Light"/>
                </a:rPr>
                <a:t>Разработчик</a:t>
              </a:r>
              <a:endParaRPr lang="en-US" sz="2000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endParaRPr>
            </a:p>
          </p:txBody>
        </p:sp>
      </p:grpSp>
      <p:grpSp>
        <p:nvGrpSpPr>
          <p:cNvPr id="41" name="Group 18">
            <a:extLst>
              <a:ext uri="{FF2B5EF4-FFF2-40B4-BE49-F238E27FC236}">
                <a16:creationId xmlns:a16="http://schemas.microsoft.com/office/drawing/2014/main" id="{86C0ADBB-8241-4DA3-ABDC-6C7CAF6708E5}"/>
              </a:ext>
            </a:extLst>
          </p:cNvPr>
          <p:cNvGrpSpPr/>
          <p:nvPr/>
        </p:nvGrpSpPr>
        <p:grpSpPr>
          <a:xfrm>
            <a:off x="9791172" y="4958688"/>
            <a:ext cx="2087242" cy="1503953"/>
            <a:chOff x="0" y="-47625"/>
            <a:chExt cx="3847571" cy="2218457"/>
          </a:xfrm>
        </p:grpSpPr>
        <p:sp>
          <p:nvSpPr>
            <p:cNvPr id="42" name="TextBox 19">
              <a:extLst>
                <a:ext uri="{FF2B5EF4-FFF2-40B4-BE49-F238E27FC236}">
                  <a16:creationId xmlns:a16="http://schemas.microsoft.com/office/drawing/2014/main" id="{387D0865-7EAF-452F-A9C1-B948749F61F9}"/>
                </a:ext>
              </a:extLst>
            </p:cNvPr>
            <p:cNvSpPr txBox="1"/>
            <p:nvPr/>
          </p:nvSpPr>
          <p:spPr>
            <a:xfrm>
              <a:off x="0" y="-47625"/>
              <a:ext cx="3847571" cy="12458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91"/>
                </a:lnSpc>
              </a:pPr>
              <a:r>
                <a:rPr lang="en-US" sz="2400" b="1" dirty="0">
                  <a:solidFill>
                    <a:srgbClr val="FFFFFF"/>
                  </a:solidFill>
                  <a:ea typeface="Fira Sans Bold"/>
                  <a:cs typeface="Fira Sans Bold"/>
                  <a:sym typeface="Fira Sans Bold"/>
                </a:rPr>
                <a:t>ЕВА КУЛАКОВА</a:t>
              </a:r>
            </a:p>
            <a:p>
              <a:pPr algn="l">
                <a:lnSpc>
                  <a:spcPts val="3791"/>
                </a:lnSpc>
                <a:spcBef>
                  <a:spcPct val="0"/>
                </a:spcBef>
              </a:pPr>
              <a:endParaRPr lang="en-US" sz="2400" b="1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endParaRPr>
            </a:p>
          </p:txBody>
        </p:sp>
        <p:sp>
          <p:nvSpPr>
            <p:cNvPr id="43" name="TextBox 20">
              <a:extLst>
                <a:ext uri="{FF2B5EF4-FFF2-40B4-BE49-F238E27FC236}">
                  <a16:creationId xmlns:a16="http://schemas.microsoft.com/office/drawing/2014/main" id="{0AD82713-6E1C-42D2-8410-F0E17803B567}"/>
                </a:ext>
              </a:extLst>
            </p:cNvPr>
            <p:cNvSpPr txBox="1"/>
            <p:nvPr/>
          </p:nvSpPr>
          <p:spPr>
            <a:xfrm>
              <a:off x="0" y="1656593"/>
              <a:ext cx="3847571" cy="5142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285"/>
                </a:lnSpc>
                <a:spcBef>
                  <a:spcPct val="0"/>
                </a:spcBef>
              </a:pPr>
              <a:r>
                <a:rPr lang="en-US" sz="2000" dirty="0" err="1">
                  <a:solidFill>
                    <a:srgbClr val="FFFFFF"/>
                  </a:solidFill>
                  <a:ea typeface="Fira Sans Light"/>
                  <a:cs typeface="Fira Sans Light"/>
                  <a:sym typeface="Fira Sans Light"/>
                </a:rPr>
                <a:t>Дизайнер</a:t>
              </a:r>
              <a:endParaRPr lang="en-US" sz="2000" dirty="0">
                <a:solidFill>
                  <a:srgbClr val="FFFFFF"/>
                </a:solidFill>
                <a:ea typeface="Fira Sans Light"/>
                <a:cs typeface="Fira Sans Light"/>
                <a:sym typeface="Fira Sans Ligh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694861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FB6800-52B2-48B9-84FB-9AE93B144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7200" dirty="0"/>
              <a:t>Запрос</a:t>
            </a:r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726F4582-ACFA-4D12-AE09-C7642F70DE11}"/>
              </a:ext>
            </a:extLst>
          </p:cNvPr>
          <p:cNvSpPr txBox="1"/>
          <p:nvPr/>
        </p:nvSpPr>
        <p:spPr>
          <a:xfrm>
            <a:off x="5389106" y="1018666"/>
            <a:ext cx="5249233" cy="20944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454"/>
              </a:lnSpc>
              <a:spcBef>
                <a:spcPct val="0"/>
              </a:spcBef>
            </a:pPr>
            <a:r>
              <a:rPr lang="en-US" sz="4000" b="1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СТРУКТУРА РАСХОДОВ (1 МЛН РУБ.)</a:t>
            </a:r>
          </a:p>
        </p:txBody>
      </p:sp>
      <p:sp>
        <p:nvSpPr>
          <p:cNvPr id="5" name="TextBox 9">
            <a:extLst>
              <a:ext uri="{FF2B5EF4-FFF2-40B4-BE49-F238E27FC236}">
                <a16:creationId xmlns:a16="http://schemas.microsoft.com/office/drawing/2014/main" id="{7C5A58F8-27BE-4FD8-83ED-2D572F8A7D9B}"/>
              </a:ext>
            </a:extLst>
          </p:cNvPr>
          <p:cNvSpPr txBox="1"/>
          <p:nvPr/>
        </p:nvSpPr>
        <p:spPr>
          <a:xfrm>
            <a:off x="3703644" y="3872750"/>
            <a:ext cx="3370925" cy="23756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791"/>
              </a:lnSpc>
              <a:spcBef>
                <a:spcPct val="0"/>
              </a:spcBef>
            </a:pPr>
            <a:r>
              <a:rPr lang="en-US" b="1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МАРКЕТИНГ И ПРОДАЖИ</a:t>
            </a:r>
          </a:p>
          <a:p>
            <a:pPr algn="l">
              <a:lnSpc>
                <a:spcPts val="3791"/>
              </a:lnSpc>
              <a:spcBef>
                <a:spcPct val="0"/>
              </a:spcBef>
            </a:pPr>
            <a:r>
              <a:rPr lang="en-US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500 000 РУБ. (50%)</a:t>
            </a:r>
          </a:p>
          <a:p>
            <a:pPr marL="584679" lvl="1" indent="-292339" algn="l">
              <a:lnSpc>
                <a:spcPts val="3791"/>
              </a:lnSpc>
              <a:buFont typeface="Arial"/>
              <a:buChar char="•"/>
            </a:pPr>
            <a:r>
              <a:rPr lang="en-US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ПРИВЛЕЧЕНИЕ КЛИЕНТОВ</a:t>
            </a:r>
          </a:p>
          <a:p>
            <a:pPr marL="584679" lvl="1" indent="-292339" algn="l">
              <a:lnSpc>
                <a:spcPts val="3791"/>
              </a:lnSpc>
              <a:buFont typeface="Arial"/>
              <a:buChar char="•"/>
            </a:pPr>
            <a:r>
              <a:rPr lang="en-US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ЗАРАБОТНАЯ ПЛАТА МЕНЕДЖЕРОВ</a:t>
            </a:r>
          </a:p>
        </p:txBody>
      </p:sp>
      <p:sp>
        <p:nvSpPr>
          <p:cNvPr id="6" name="TextBox 10">
            <a:extLst>
              <a:ext uri="{FF2B5EF4-FFF2-40B4-BE49-F238E27FC236}">
                <a16:creationId xmlns:a16="http://schemas.microsoft.com/office/drawing/2014/main" id="{5DAE6ED3-374E-4168-86CF-81618ACC6360}"/>
              </a:ext>
            </a:extLst>
          </p:cNvPr>
          <p:cNvSpPr txBox="1"/>
          <p:nvPr/>
        </p:nvSpPr>
        <p:spPr>
          <a:xfrm>
            <a:off x="332802" y="2338583"/>
            <a:ext cx="3144943" cy="33502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791"/>
              </a:lnSpc>
              <a:spcBef>
                <a:spcPct val="0"/>
              </a:spcBef>
            </a:pPr>
            <a:r>
              <a:rPr lang="en-US" b="1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ОПЕРАЦИОННЫЕ РАСХОДЫ</a:t>
            </a:r>
          </a:p>
          <a:p>
            <a:pPr algn="l">
              <a:lnSpc>
                <a:spcPts val="3791"/>
              </a:lnSpc>
              <a:spcBef>
                <a:spcPct val="0"/>
              </a:spcBef>
            </a:pPr>
            <a:r>
              <a:rPr lang="en-US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300 000 РУБ. (30%)</a:t>
            </a:r>
          </a:p>
          <a:p>
            <a:pPr marL="584679" lvl="1" indent="-292339" algn="l">
              <a:lnSpc>
                <a:spcPts val="3791"/>
              </a:lnSpc>
              <a:buFont typeface="Arial"/>
              <a:buChar char="•"/>
            </a:pPr>
            <a:r>
              <a:rPr lang="en-US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ОБОРУДОВАНИЕ ДЛЯ 5-10 СТАРТОВЫХ КОМПЛЕКСОВ</a:t>
            </a:r>
          </a:p>
          <a:p>
            <a:pPr marL="584679" lvl="1" indent="-292339" algn="l">
              <a:lnSpc>
                <a:spcPts val="3791"/>
              </a:lnSpc>
              <a:buFont typeface="Arial"/>
              <a:buChar char="•"/>
            </a:pPr>
            <a:r>
              <a:rPr lang="en-US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ЛОГИСТИКА И ВЫЕЗДЫ МОНТАЖНИКОВ</a:t>
            </a:r>
          </a:p>
        </p:txBody>
      </p:sp>
      <p:sp>
        <p:nvSpPr>
          <p:cNvPr id="7" name="TextBox 11">
            <a:extLst>
              <a:ext uri="{FF2B5EF4-FFF2-40B4-BE49-F238E27FC236}">
                <a16:creationId xmlns:a16="http://schemas.microsoft.com/office/drawing/2014/main" id="{83C14B71-743B-4EDE-8E62-33D6E8B676F9}"/>
              </a:ext>
            </a:extLst>
          </p:cNvPr>
          <p:cNvSpPr txBox="1"/>
          <p:nvPr/>
        </p:nvSpPr>
        <p:spPr>
          <a:xfrm>
            <a:off x="7752348" y="3522133"/>
            <a:ext cx="4087416" cy="28629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791"/>
              </a:lnSpc>
              <a:spcBef>
                <a:spcPct val="0"/>
              </a:spcBef>
            </a:pPr>
            <a:r>
              <a:rPr lang="en-US" b="1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РАЗВИТИЕ ПРОДУКТА И АДМИНИСТРИРОВАНИЕ</a:t>
            </a:r>
          </a:p>
          <a:p>
            <a:pPr algn="l">
              <a:lnSpc>
                <a:spcPts val="3791"/>
              </a:lnSpc>
              <a:spcBef>
                <a:spcPct val="0"/>
              </a:spcBef>
            </a:pPr>
            <a:r>
              <a:rPr lang="en-US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200 000 РУБ. (20%)</a:t>
            </a:r>
          </a:p>
          <a:p>
            <a:pPr marL="584679" lvl="1" indent="-292339" algn="l">
              <a:lnSpc>
                <a:spcPts val="3791"/>
              </a:lnSpc>
              <a:buFont typeface="Arial"/>
              <a:buChar char="•"/>
            </a:pPr>
            <a:r>
              <a:rPr lang="en-US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ТЕХПОДДЕРЖКА И ДОРАБОТКИ ПО</a:t>
            </a:r>
          </a:p>
          <a:p>
            <a:pPr marL="584679" lvl="1" indent="-292339" algn="l">
              <a:lnSpc>
                <a:spcPts val="3791"/>
              </a:lnSpc>
              <a:buFont typeface="Arial"/>
              <a:buChar char="•"/>
            </a:pPr>
            <a:r>
              <a:rPr lang="en-US" dirty="0">
                <a:solidFill>
                  <a:srgbClr val="FFFFFF"/>
                </a:solidFill>
                <a:ea typeface="Fira Sans Bold"/>
                <a:cs typeface="Fira Sans Bold"/>
                <a:sym typeface="Fira Sans Bold"/>
              </a:rPr>
              <a:t>ЮРИДИЧЕСКИЕ И ОРГАНИЗАЦИОННЫЕ РАСХОДЫ</a:t>
            </a:r>
          </a:p>
        </p:txBody>
      </p:sp>
    </p:spTree>
    <p:extLst>
      <p:ext uri="{BB962C8B-B14F-4D97-AF65-F5344CB8AC3E}">
        <p14:creationId xmlns:p14="http://schemas.microsoft.com/office/powerpoint/2010/main" val="34315472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64E481-642F-4C63-B1A2-28B2E5EE0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7200" dirty="0"/>
              <a:t>демонстрация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E3330CC-F2F1-4920-9F71-BD7544A943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912594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Небесная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{C1C3C069-84C5-4C35-9874-3F6217F7CDBC}TFb5ae2469-0bae-4978-b0e0-39dd046150ff70304fb8-6c08fe732421</Template>
  <TotalTime>146</TotalTime>
  <Words>1056</Words>
  <Application>Microsoft Office PowerPoint</Application>
  <PresentationFormat>Широкоэкранный</PresentationFormat>
  <Paragraphs>191</Paragraphs>
  <Slides>17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4" baseType="lpstr">
      <vt:lpstr>Arial</vt:lpstr>
      <vt:lpstr>Calibri</vt:lpstr>
      <vt:lpstr>Calibri Light</vt:lpstr>
      <vt:lpstr>Fira Sans</vt:lpstr>
      <vt:lpstr>Fira Sans Bold</vt:lpstr>
      <vt:lpstr>Fira Sans Light</vt:lpstr>
      <vt:lpstr>Небесная</vt:lpstr>
      <vt:lpstr>Система умного КПП</vt:lpstr>
      <vt:lpstr>Целевая аудитория</vt:lpstr>
      <vt:lpstr>Проблемы</vt:lpstr>
      <vt:lpstr>Решения</vt:lpstr>
      <vt:lpstr>Функционал MVP</vt:lpstr>
      <vt:lpstr>Подтверждение рынка</vt:lpstr>
      <vt:lpstr>Размер рынка</vt:lpstr>
      <vt:lpstr>Конкуренты</vt:lpstr>
      <vt:lpstr>Конкурентные преимущества</vt:lpstr>
      <vt:lpstr>Бизнес-модель</vt:lpstr>
      <vt:lpstr>Финансы</vt:lpstr>
      <vt:lpstr>Стратегия выхода на рынок</vt:lpstr>
      <vt:lpstr> Traction</vt:lpstr>
      <vt:lpstr>Анализ рисков проекта</vt:lpstr>
      <vt:lpstr>Команда</vt:lpstr>
      <vt:lpstr>Запрос</vt:lpstr>
      <vt:lpstr>демонстрация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Система умного КПП</dc:title>
  <dc:creator>Eva</dc:creator>
  <cp:lastModifiedBy>Eva</cp:lastModifiedBy>
  <cp:revision>16</cp:revision>
  <dcterms:created xsi:type="dcterms:W3CDTF">2025-11-22T18:35:22Z</dcterms:created>
  <dcterms:modified xsi:type="dcterms:W3CDTF">2025-11-22T21:01:33Z</dcterms:modified>
</cp:coreProperties>
</file>